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c3ec7b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2c3ec7b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c3ec7bc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2c3ec7bc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2ca7196c6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2ca7196c6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ca7196c6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ca7196c6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ca7196c6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2ca7196c6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2ca7196c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2ca7196c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ca7196c6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ca7196c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ca7196c6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2ca7196c6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2ca7196c6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2ca7196c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ca7196c6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2ca7196c6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ca7196c6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ca7196c6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625" y="165937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880"/>
              <a:t>Image Classification with Ensemble Stacking Techniques</a:t>
            </a:r>
            <a:endParaRPr sz="288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3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Eric Cao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Shauna </a:t>
            </a:r>
            <a:r>
              <a:rPr lang="zh-CN"/>
              <a:t>Song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Goal 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3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26"/>
              <a:t>Improve image </a:t>
            </a:r>
            <a:r>
              <a:rPr lang="zh-CN" sz="1726"/>
              <a:t>classification accuracy</a:t>
            </a:r>
            <a:endParaRPr sz="1726"/>
          </a:p>
          <a:p>
            <a:pPr indent="-3299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 sz="1726"/>
              <a:t>Combine strengths of different Network</a:t>
            </a:r>
            <a:endParaRPr sz="1726"/>
          </a:p>
          <a:p>
            <a:pPr indent="-3299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726"/>
              <a:t>Minimize loss and reduce overfitting</a:t>
            </a:r>
            <a:endParaRPr sz="1726"/>
          </a:p>
          <a:p>
            <a:pPr indent="-3299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726"/>
              <a:t>Enhance the stability of the image classification system</a:t>
            </a:r>
            <a:endParaRPr sz="1726"/>
          </a:p>
          <a:p>
            <a:pPr indent="-3299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726"/>
              <a:t>Demonstrate better performance of ensemble stacking compared to individual models</a:t>
            </a:r>
            <a:endParaRPr sz="172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Method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951825"/>
            <a:ext cx="7907100" cy="31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/>
              <a:t>Image classification - CNN(eg. LeNet, AlexNet, ResNet, VGG16) 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900"/>
              <a:t>Ensemble learning - stacking</a:t>
            </a:r>
            <a:endParaRPr sz="1900"/>
          </a:p>
          <a:p>
            <a:pPr indent="-31344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 sz="1572"/>
              <a:t>Combines multiple neural network models to improve overall performance</a:t>
            </a:r>
            <a:endParaRPr sz="1572"/>
          </a:p>
          <a:p>
            <a:pPr indent="-31344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572"/>
              <a:t>Reduces both bias and variance for better classification results</a:t>
            </a:r>
            <a:endParaRPr sz="157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900"/>
              <a:t>Drawbacks:</a:t>
            </a:r>
            <a:endParaRPr sz="1900"/>
          </a:p>
          <a:p>
            <a:pPr indent="-3204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CN" sz="1701"/>
              <a:t>Task-dependent: The effectiveness of ensemble learning depends on the specific task and the choice of base models.</a:t>
            </a:r>
            <a:endParaRPr sz="1701"/>
          </a:p>
          <a:p>
            <a:pPr indent="-3204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701"/>
              <a:t>At risk of overfitting: Ensemble stacking, if not properly managed, can lead to overfitting.</a:t>
            </a:r>
            <a:endParaRPr sz="110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600" y="1230500"/>
            <a:ext cx="5259924" cy="363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set - CIFAR-10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2063525"/>
            <a:ext cx="8066100" cy="27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Widely-used benchmark for image classification tasks</a:t>
            </a:r>
            <a:br>
              <a:rPr lang="zh-C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Contains 60,000 color images of size 32x32 pixels</a:t>
            </a:r>
            <a:br>
              <a:rPr lang="zh-C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Small image size results in lower computational requirements</a:t>
            </a:r>
            <a:br>
              <a:rPr lang="zh-C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10 distinct classes: airplanes, automobiles, birds, cats, deer, dogs, frogs, horses, ships, and trucks</a:t>
            </a:r>
            <a:br>
              <a:rPr lang="zh-C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Balanced distribution: 6,000 images per class (5,000 for training, 1,000 for testing)</a:t>
            </a:r>
            <a:br>
              <a:rPr lang="zh-CN"/>
            </a:b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7650" y="1332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Experim</a:t>
            </a:r>
            <a:r>
              <a:rPr lang="zh-CN"/>
              <a:t>ent -LeNet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result: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069" y="2193850"/>
            <a:ext cx="3914001" cy="10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title="Points scored"/>
          <p:cNvPicPr preferRelativeResize="0"/>
          <p:nvPr/>
        </p:nvPicPr>
        <p:blipFill rotWithShape="1">
          <a:blip r:embed="rId4">
            <a:alphaModFix/>
          </a:blip>
          <a:srcRect b="-33370" l="-4139" r="-55071" t="-25840"/>
          <a:stretch/>
        </p:blipFill>
        <p:spPr>
          <a:xfrm>
            <a:off x="-89750" y="1234043"/>
            <a:ext cx="7688700" cy="4754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Experiment- Alexnet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4261"/>
            <a:ext cx="5246049" cy="3243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1020" y="2100300"/>
            <a:ext cx="3797150" cy="257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</a:t>
            </a:r>
            <a:r>
              <a:rPr lang="zh-CN"/>
              <a:t>ment-Resnet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25" y="1853850"/>
            <a:ext cx="4735224" cy="292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8749" y="994050"/>
            <a:ext cx="3971325" cy="385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Experime</a:t>
            </a:r>
            <a:r>
              <a:rPr lang="zh-CN"/>
              <a:t>nt -VGG16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9450" y="1853850"/>
            <a:ext cx="7688700" cy="32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1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01" y="1802100"/>
            <a:ext cx="4858551" cy="30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698" y="711250"/>
            <a:ext cx="3429000" cy="434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Experiment-Mixed network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7650" y="1812450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LeNet 74.53</a:t>
            </a:r>
            <a:endParaRPr sz="1050">
              <a:solidFill>
                <a:srgbClr val="21212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AlexNet 79.95</a:t>
            </a:r>
            <a:endParaRPr sz="1050">
              <a:solidFill>
                <a:srgbClr val="21212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ResNet 81.41</a:t>
            </a:r>
            <a:endParaRPr sz="1050">
              <a:solidFill>
                <a:srgbClr val="21212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VGG16 86.36</a:t>
            </a:r>
            <a:endParaRPr sz="1050">
              <a:solidFill>
                <a:srgbClr val="21212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AlexNet + ResNet + VGG16 89.17</a:t>
            </a:r>
            <a:endParaRPr sz="1050">
              <a:solidFill>
                <a:srgbClr val="21212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LeNet + AlexNet + VGG16 88.91  </a:t>
            </a:r>
            <a:endParaRPr sz="1050">
              <a:solidFill>
                <a:srgbClr val="21212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eNet + ResNet + VGG16 87.34 </a:t>
            </a:r>
            <a:endParaRPr sz="1050">
              <a:solidFill>
                <a:srgbClr val="21212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050">
                <a:solidFill>
                  <a:srgbClr val="21212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LeNet + AlexNet + ResNet 82.57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9" name="Google Shape;149;p22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551" y="1776300"/>
            <a:ext cx="4708587" cy="29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Conclusion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Stacking boosts performance but requires more computing power.</a:t>
            </a:r>
            <a:br>
              <a:rPr lang="zh-C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Stacking more models yield better results, but with small improvements.</a:t>
            </a:r>
            <a:br>
              <a:rPr lang="zh-C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Mixed network ensembles yield better performance improvements, but at higher computational costs.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Future direction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Evaluate ensemble learning improvement using Vision Transformer</a:t>
            </a:r>
            <a:br>
              <a:rPr lang="zh-CN"/>
            </a:br>
            <a:br>
              <a:rPr lang="zh-C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Utilize model soups, which improve accuracy by averaging the weights of multiple models' parameters without increasing inference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