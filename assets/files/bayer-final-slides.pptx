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embeddedFontLst>
    <p:embeddedFont>
      <p:font typeface="Raleway"/>
      <p:regular r:id="rId42"/>
      <p:bold r:id="rId43"/>
      <p:italic r:id="rId44"/>
      <p:boldItalic r:id="rId45"/>
    </p:embeddedFont>
    <p:embeddedFont>
      <p:font typeface="Lat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4D40D6-E1E1-4D3D-A5D7-823843071A3E}">
  <a:tblStyle styleId="{D64D40D6-E1E1-4D3D-A5D7-823843071A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Raleway-regular.fntdata"/><Relationship Id="rId41" Type="http://schemas.openxmlformats.org/officeDocument/2006/relationships/slide" Target="slides/slide35.xml"/><Relationship Id="rId44" Type="http://schemas.openxmlformats.org/officeDocument/2006/relationships/font" Target="fonts/Raleway-italic.fntdata"/><Relationship Id="rId43" Type="http://schemas.openxmlformats.org/officeDocument/2006/relationships/font" Target="fonts/Raleway-bold.fntdata"/><Relationship Id="rId46" Type="http://schemas.openxmlformats.org/officeDocument/2006/relationships/font" Target="fonts/Lato-regular.fntdata"/><Relationship Id="rId45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Lato-italic.fntdata"/><Relationship Id="rId47" Type="http://schemas.openxmlformats.org/officeDocument/2006/relationships/font" Target="fonts/Lato-bold.fntdata"/><Relationship Id="rId49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c0c0aa86bf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c0c0aa86b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6e4a2ed39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6e4a2ed39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cb108970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cb108970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cb1089709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cb1089709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6e4a2ed3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6e4a2ed3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b1089709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b1089709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6e4a2ed39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6e4a2ed39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cb1089709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cb1089709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cb1089709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cb1089709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cb1089709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cb1089709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cb1089709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cb1089709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b1089709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cb1089709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cb1089709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cb1089709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cb1089709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cb1089709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cb1089709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cb1089709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cb1089709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cb1089709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cb60be2ecc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cb60be2ec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cbd57c3f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cbd57c3f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Xggx or gxxg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cbc8c912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cbc8c912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cbd57c3f3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cbd57c3f3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cbf27c08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cbf27c08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cbd57c3f3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cbd57c3f3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cbd57c3f38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cbd57c3f38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cbd57c3f38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cbd57c3f38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cbd57c3f38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cbd57c3f38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cbd57c3f38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cbd57c3f38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cbd57c3f38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cbd57c3f38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cbd57c3f38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cbd57c3f38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cbd57c3f38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cbd57c3f38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cbd57c3f38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cbd57c3f38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cbef5b265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cbef5b265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cbef5b265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cbef5b265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cbef5b2653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cbef5b2653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cbef5b265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cbef5b265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gif"/><Relationship Id="rId5" Type="http://schemas.openxmlformats.org/officeDocument/2006/relationships/hyperlink" Target="https://www.theguardian.com/technology/ng-interactive/2019/jun/22/the-rise-of-the-deepfake-and-the-threat-to-democracy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Relationship Id="rId4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5" Type="http://schemas.openxmlformats.org/officeDocument/2006/relationships/image" Target="../media/image28.png"/><Relationship Id="rId6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Relationship Id="rId4" Type="http://schemas.openxmlformats.org/officeDocument/2006/relationships/image" Target="../media/image38.png"/><Relationship Id="rId5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4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2.png"/><Relationship Id="rId6" Type="http://schemas.openxmlformats.org/officeDocument/2006/relationships/image" Target="../media/image45.png"/><Relationship Id="rId7" Type="http://schemas.openxmlformats.org/officeDocument/2006/relationships/image" Target="../media/image4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Agenda</a:t>
            </a:r>
            <a:endParaRPr/>
          </a:p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729450" y="2078875"/>
            <a:ext cx="76887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 sz="1800"/>
              <a:t>Brief Recap of Single-sensor Cameras, Color Filter Arrays and Synthesized Images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 sz="1800"/>
              <a:t>Methodology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CA" sz="1800"/>
              <a:t>Proposed Method for Detecting Fake Images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CA" sz="1800"/>
              <a:t>Experiment Datasets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CA" sz="1800"/>
              <a:t>Demosaicing Algorithms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CA" sz="1800"/>
              <a:t>Image Comparison Metrics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 sz="1800"/>
              <a:t>Experiment Results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 sz="1800"/>
              <a:t>Conclusion</a:t>
            </a:r>
            <a:endParaRPr sz="1800"/>
          </a:p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42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Using Bayer Pattern to Detect</a:t>
            </a:r>
            <a:endParaRPr b="1" sz="42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42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Fake Images</a:t>
            </a:r>
            <a:endParaRPr b="1" sz="42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Larry Liu, Ziyao Wang, Eric Cao, Olasunade Ladenegan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29450" y="3773800"/>
            <a:ext cx="8103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April </a:t>
            </a:r>
            <a:r>
              <a:rPr lang="en-CA" sz="12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2024</a:t>
            </a:r>
            <a:endParaRPr sz="12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Fake Images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729450" y="2078875"/>
            <a:ext cx="3480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</a:t>
            </a:r>
            <a:r>
              <a:rPr lang="en-CA"/>
              <a:t>omputer synthesised images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Variational autoencoder (VAE)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Generative adversarial network (GAN)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Diffusion model</a:t>
            </a:r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7875" y="1318650"/>
            <a:ext cx="4606226" cy="345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Deepfake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4260325" y="4451900"/>
            <a:ext cx="4366500" cy="2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CA" sz="8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Nguyen, Thanh Thi, et al. "Deep learning for deepfakes creation and detection: A survey." </a:t>
            </a:r>
            <a:r>
              <a:rPr i="1" lang="en-CA" sz="8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Computer Vision and Image Understanding</a:t>
            </a:r>
            <a:r>
              <a:rPr lang="en-CA" sz="8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223 (2022): 103525.</a:t>
            </a:r>
            <a:endParaRPr sz="8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0323" y="831338"/>
            <a:ext cx="4528200" cy="348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450" y="2942125"/>
            <a:ext cx="32385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4260275" y="4718300"/>
            <a:ext cx="436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 sz="800" u="sng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https://www.theguardian.com/technology/ng-interactive/2019/jun/22/the-rise-of-the-deepfake-and-the-threat-to-democracy</a:t>
            </a:r>
            <a:endParaRPr sz="8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729450" y="1853850"/>
            <a:ext cx="34266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CA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Replace one identity’s face with that of another while maintaining the original facial expressions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Previous works - Deep Learning</a:t>
            </a:r>
            <a:endParaRPr/>
          </a:p>
        </p:txBody>
      </p:sp>
      <p:sp>
        <p:nvSpPr>
          <p:cNvPr id="121" name="Google Shape;12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930" y="2078875"/>
            <a:ext cx="7905744" cy="22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4572000" y="4650900"/>
            <a:ext cx="457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222222"/>
                </a:solidFill>
                <a:highlight>
                  <a:srgbClr val="FFFFFF"/>
                </a:highlight>
              </a:rPr>
              <a:t>Hsu, Chih-Chung, Yi-Xiu Zhuang, and Chia-Yen Lee. "Deep fake image detection based on pairwise learning." </a:t>
            </a:r>
            <a:r>
              <a:rPr i="1" lang="en-CA" sz="1000">
                <a:solidFill>
                  <a:srgbClr val="222222"/>
                </a:solidFill>
                <a:highlight>
                  <a:srgbClr val="FFFFFF"/>
                </a:highlight>
              </a:rPr>
              <a:t>Applied Sciences</a:t>
            </a:r>
            <a:r>
              <a:rPr lang="en-CA" sz="1000">
                <a:solidFill>
                  <a:srgbClr val="222222"/>
                </a:solidFill>
                <a:highlight>
                  <a:srgbClr val="FFFFFF"/>
                </a:highlight>
              </a:rPr>
              <a:t> 10.1 (2020): 370.</a:t>
            </a:r>
            <a:endParaRPr/>
          </a:p>
        </p:txBody>
      </p:sp>
      <p:sp>
        <p:nvSpPr>
          <p:cNvPr id="124" name="Google Shape;124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Bayer pattern</a:t>
            </a:r>
            <a:endParaRPr/>
          </a:p>
        </p:txBody>
      </p:sp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729450" y="2078875"/>
            <a:ext cx="3633300" cy="25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Col</a:t>
            </a:r>
            <a:r>
              <a:rPr lang="en-CA"/>
              <a:t>or filter array(CFA): Bayer pattern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4 Bayer patterns: </a:t>
            </a:r>
            <a:endParaRPr/>
          </a:p>
          <a:p>
            <a:pPr indent="457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CA"/>
              <a:t>GBRG, GRBG, BGGR, RGG</a:t>
            </a:r>
            <a:r>
              <a:rPr lang="en-CA"/>
              <a:t>B</a:t>
            </a:r>
            <a:endParaRPr/>
          </a:p>
          <a:p>
            <a:pPr indent="457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Demosaicing: reconstruct missing color for all RGB channels</a:t>
            </a:r>
            <a:endParaRPr/>
          </a:p>
        </p:txBody>
      </p:sp>
      <p:pic>
        <p:nvPicPr>
          <p:cNvPr id="131" name="Google Shape;13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5747" y="1089325"/>
            <a:ext cx="3513749" cy="226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2750" y="3350425"/>
            <a:ext cx="4559751" cy="1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8150" y="1853850"/>
            <a:ext cx="7211302" cy="298484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Methodology</a:t>
            </a:r>
            <a:endParaRPr/>
          </a:p>
        </p:txBody>
      </p:sp>
      <p:sp>
        <p:nvSpPr>
          <p:cNvPr id="140" name="Google Shape;140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Proposed Method</a:t>
            </a:r>
            <a:endParaRPr/>
          </a:p>
        </p:txBody>
      </p:sp>
      <p:pic>
        <p:nvPicPr>
          <p:cNvPr id="146" name="Google Shape;14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538" y="1853849"/>
            <a:ext cx="7320525" cy="294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2475" y="2571750"/>
            <a:ext cx="631875" cy="235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Demosaicing Algorithm</a:t>
            </a:r>
            <a:endParaRPr/>
          </a:p>
        </p:txBody>
      </p:sp>
      <p:pic>
        <p:nvPicPr>
          <p:cNvPr id="154" name="Google Shape;15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1600" y="1486775"/>
            <a:ext cx="2723525" cy="327154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1"/>
          <p:cNvSpPr txBox="1"/>
          <p:nvPr/>
        </p:nvSpPr>
        <p:spPr>
          <a:xfrm>
            <a:off x="729450" y="1920825"/>
            <a:ext cx="5157000" cy="28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libri"/>
              <a:buChar char="●"/>
            </a:pPr>
            <a:r>
              <a:rPr lang="en-CA" sz="13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Developed by Malvar et al in 2004</a:t>
            </a:r>
            <a:endParaRPr sz="13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libri"/>
              <a:buChar char="●"/>
            </a:pPr>
            <a:r>
              <a:rPr lang="en-CA" sz="13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Gradient-corrected form of bilinear interpolation</a:t>
            </a:r>
            <a:endParaRPr sz="13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libri"/>
              <a:buChar char="●"/>
            </a:pPr>
            <a:r>
              <a:rPr lang="en-CA" sz="13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Implemented in our project using an open-source Python version of this algorithm.</a:t>
            </a:r>
            <a:endParaRPr sz="13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libri"/>
              <a:buChar char="●"/>
            </a:pPr>
            <a:r>
              <a:rPr lang="en-CA" sz="13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The code was modified and </a:t>
            </a:r>
            <a:r>
              <a:rPr lang="en-CA" sz="13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fine tuned</a:t>
            </a:r>
            <a:r>
              <a:rPr lang="en-CA" sz="13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to match the results from the MATLAB implementation of this method.</a:t>
            </a:r>
            <a:endParaRPr sz="13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117900" y="4838625"/>
            <a:ext cx="891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600">
                <a:solidFill>
                  <a:srgbClr val="333333"/>
                </a:solidFill>
                <a:highlight>
                  <a:srgbClr val="FFFFFF"/>
                </a:highlight>
              </a:rPr>
              <a:t>H. S. Malvar, Li-wei He and R. Cutler, "High-quality linear interpolation for demosaicing of Bayer-patterned color images," </a:t>
            </a:r>
            <a:r>
              <a:rPr i="1" lang="en-CA" sz="600">
                <a:solidFill>
                  <a:srgbClr val="333333"/>
                </a:solidFill>
                <a:highlight>
                  <a:srgbClr val="FFFFFF"/>
                </a:highlight>
              </a:rPr>
              <a:t>2004 IEEE International Conference on Acoustics, Speech, and Signal Processing</a:t>
            </a:r>
            <a:r>
              <a:rPr lang="en-CA" sz="600">
                <a:solidFill>
                  <a:srgbClr val="333333"/>
                </a:solidFill>
                <a:highlight>
                  <a:srgbClr val="FFFFFF"/>
                </a:highlight>
              </a:rPr>
              <a:t>, Montreal, QC, Canada, 2004, pp. iii-485, doi: 10.1109/ICASSP.2004.1326587.</a:t>
            </a:r>
            <a:endParaRPr sz="600"/>
          </a:p>
        </p:txBody>
      </p:sp>
      <p:sp>
        <p:nvSpPr>
          <p:cNvPr id="157" name="Google Shape;157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Datasets</a:t>
            </a:r>
            <a:endParaRPr/>
          </a:p>
        </p:txBody>
      </p:sp>
      <p:sp>
        <p:nvSpPr>
          <p:cNvPr id="163" name="Google Shape;163;p22"/>
          <p:cNvSpPr txBox="1"/>
          <p:nvPr>
            <p:ph idx="1" type="body"/>
          </p:nvPr>
        </p:nvSpPr>
        <p:spPr>
          <a:xfrm>
            <a:off x="729450" y="2078875"/>
            <a:ext cx="7688700" cy="3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/>
              <a:t>We used 4 </a:t>
            </a:r>
            <a:r>
              <a:rPr lang="en-CA"/>
              <a:t>different datasets for our project which are:</a:t>
            </a:r>
            <a:endParaRPr/>
          </a:p>
        </p:txBody>
      </p:sp>
      <p:pic>
        <p:nvPicPr>
          <p:cNvPr id="164" name="Google Shape;16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75" y="2510250"/>
            <a:ext cx="7578458" cy="239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Datasets: RAISE Dataset [Real Images]</a:t>
            </a:r>
            <a:endParaRPr/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729450" y="1952650"/>
            <a:ext cx="3918600" cy="28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Contains 8,156 RAW high-resolution, camera-native images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The images were captured using 3 camera models: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CA"/>
              <a:t>Nikon (D40 || D90 || D7000)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The images in this set are grouped into 7 classes.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CA"/>
              <a:t>Outdoor, Indoor, Landscape, Nature, People, Objects and Buildings.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We used the RAISE 1k subset of this dataset, which contains 1000 images, for our experiment.</a:t>
            </a:r>
            <a:endParaRPr/>
          </a:p>
        </p:txBody>
      </p:sp>
      <p:pic>
        <p:nvPicPr>
          <p:cNvPr id="172" name="Google Shape;17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0275" y="1952650"/>
            <a:ext cx="4191150" cy="282405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3"/>
          <p:cNvSpPr txBox="1"/>
          <p:nvPr/>
        </p:nvSpPr>
        <p:spPr>
          <a:xfrm>
            <a:off x="729450" y="4875500"/>
            <a:ext cx="822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600">
                <a:solidFill>
                  <a:srgbClr val="222222"/>
                </a:solidFill>
                <a:highlight>
                  <a:srgbClr val="FFFFFF"/>
                </a:highlight>
              </a:rPr>
              <a:t>Dang-Nguyen, D.T., Pasquini, C., Conotter, V. and Boato, G., 2015, March. Raise: A raw images dataset for digital image forensics. In </a:t>
            </a:r>
            <a:r>
              <a:rPr i="1" lang="en-CA" sz="600">
                <a:solidFill>
                  <a:srgbClr val="222222"/>
                </a:solidFill>
                <a:highlight>
                  <a:srgbClr val="FFFFFF"/>
                </a:highlight>
              </a:rPr>
              <a:t>Proceedings of the 6th ACM multimedia systems conference</a:t>
            </a:r>
            <a:r>
              <a:rPr lang="en-CA" sz="600">
                <a:solidFill>
                  <a:srgbClr val="222222"/>
                </a:solidFill>
                <a:highlight>
                  <a:srgbClr val="FFFFFF"/>
                </a:highlight>
              </a:rPr>
              <a:t> (pp. 219-224).</a:t>
            </a:r>
            <a:endParaRPr sz="600"/>
          </a:p>
        </p:txBody>
      </p:sp>
      <p:sp>
        <p:nvSpPr>
          <p:cNvPr id="174" name="Google Shape;174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Datasets: DiffusionDB Dataset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[Fake Images]</a:t>
            </a:r>
            <a:endParaRPr/>
          </a:p>
        </p:txBody>
      </p:sp>
      <p:sp>
        <p:nvSpPr>
          <p:cNvPr id="180" name="Google Shape;180;p24"/>
          <p:cNvSpPr txBox="1"/>
          <p:nvPr>
            <p:ph idx="1" type="body"/>
          </p:nvPr>
        </p:nvSpPr>
        <p:spPr>
          <a:xfrm>
            <a:off x="729450" y="2222500"/>
            <a:ext cx="4387200" cy="27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Contains 14 million high-resolution, user-generated images.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Images in this dataset were created using Stable Diffusion.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The images were curated and compiled by scraping through the official Stable Diffusion Discord page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We used 1000 images from this dataset in our experiments.</a:t>
            </a:r>
            <a:endParaRPr/>
          </a:p>
        </p:txBody>
      </p:sp>
      <p:pic>
        <p:nvPicPr>
          <p:cNvPr id="181" name="Google Shape;18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3373" y="1318650"/>
            <a:ext cx="3034103" cy="361884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4"/>
          <p:cNvSpPr txBox="1"/>
          <p:nvPr/>
        </p:nvSpPr>
        <p:spPr>
          <a:xfrm>
            <a:off x="729450" y="4875475"/>
            <a:ext cx="8706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600">
                <a:solidFill>
                  <a:srgbClr val="222222"/>
                </a:solidFill>
                <a:highlight>
                  <a:srgbClr val="FFFFFF"/>
                </a:highlight>
              </a:rPr>
              <a:t>Wang, Z.J., Montoya, E., Munechika, D., Yang, H., Hoover, B. and Chau, D.H., 2022. Diffusiondb: A large-scale prompt gallery dataset for text-to-image generative models. </a:t>
            </a:r>
            <a:r>
              <a:rPr i="1" lang="en-CA" sz="600">
                <a:solidFill>
                  <a:srgbClr val="222222"/>
                </a:solidFill>
                <a:highlight>
                  <a:srgbClr val="FFFFFF"/>
                </a:highlight>
              </a:rPr>
              <a:t>arXiv preprint arXiv:2210.14896</a:t>
            </a:r>
            <a:endParaRPr sz="600"/>
          </a:p>
        </p:txBody>
      </p:sp>
      <p:sp>
        <p:nvSpPr>
          <p:cNvPr id="183" name="Google Shape;183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Datasets: GenImage Dataset [Fake Images]</a:t>
            </a:r>
            <a:endParaRPr/>
          </a:p>
        </p:txBody>
      </p:sp>
      <p:sp>
        <p:nvSpPr>
          <p:cNvPr id="189" name="Google Shape;189;p25"/>
          <p:cNvSpPr txBox="1"/>
          <p:nvPr>
            <p:ph idx="1" type="body"/>
          </p:nvPr>
        </p:nvSpPr>
        <p:spPr>
          <a:xfrm>
            <a:off x="729450" y="2006313"/>
            <a:ext cx="3463200" cy="26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This dataset contains about 2.68 million images.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The images are split into real or fake images, which can be paired.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Fake images were generated using  8 different AI models.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This dataset is modeled after ImageNet, so it has the same 1000 classes.</a:t>
            </a:r>
            <a:endParaRPr/>
          </a:p>
        </p:txBody>
      </p:sp>
      <p:pic>
        <p:nvPicPr>
          <p:cNvPr id="190" name="Google Shape;19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0375" y="2006275"/>
            <a:ext cx="4296525" cy="268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5"/>
          <p:cNvSpPr txBox="1"/>
          <p:nvPr/>
        </p:nvSpPr>
        <p:spPr>
          <a:xfrm>
            <a:off x="558000" y="4840500"/>
            <a:ext cx="858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600">
                <a:solidFill>
                  <a:srgbClr val="222222"/>
                </a:solidFill>
                <a:highlight>
                  <a:srgbClr val="FFFFFF"/>
                </a:highlight>
              </a:rPr>
              <a:t>Zhu, M., Chen, H., Yan, Q., Huang, X., Lin, G., Li, W., Tu, Z., Hu, H., Hu, J. and Wang, Y., 2024. Genimage: A million-scale benchmark for detecting ai-generated image. </a:t>
            </a:r>
            <a:r>
              <a:rPr i="1" lang="en-CA" sz="600">
                <a:solidFill>
                  <a:srgbClr val="222222"/>
                </a:solidFill>
                <a:highlight>
                  <a:srgbClr val="FFFFFF"/>
                </a:highlight>
              </a:rPr>
              <a:t>Advances in Neural Information Processing Systems</a:t>
            </a:r>
            <a:r>
              <a:rPr lang="en-CA" sz="60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i="1" lang="en-CA" sz="600">
                <a:solidFill>
                  <a:srgbClr val="222222"/>
                </a:solidFill>
                <a:highlight>
                  <a:srgbClr val="FFFFFF"/>
                </a:highlight>
              </a:rPr>
              <a:t>36</a:t>
            </a:r>
            <a:r>
              <a:rPr lang="en-CA" sz="600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  <a:endParaRPr sz="1000"/>
          </a:p>
        </p:txBody>
      </p:sp>
      <p:sp>
        <p:nvSpPr>
          <p:cNvPr id="192" name="Google Shape;192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Datasets: Landscape PhotoReal Dataset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[Fake Images]</a:t>
            </a:r>
            <a:endParaRPr/>
          </a:p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729450" y="2250125"/>
            <a:ext cx="3842700" cy="25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For further experimentation, we created  this dataset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The images were generated using the Landscape PhotoReal generative model. It is a fine-tuned stable-diffusion v1.5 model.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We created 1000 images with resolution (1024×768)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Our aim was to create artificial images that look realistic and </a:t>
            </a:r>
            <a:r>
              <a:rPr lang="en-CA"/>
              <a:t>are not easily detected visually</a:t>
            </a:r>
            <a:r>
              <a:rPr lang="en-CA"/>
              <a:t>.</a:t>
            </a:r>
            <a:endParaRPr/>
          </a:p>
        </p:txBody>
      </p:sp>
      <p:pic>
        <p:nvPicPr>
          <p:cNvPr id="199" name="Google Shape;19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275" y="1983575"/>
            <a:ext cx="3625099" cy="284172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6"/>
          <p:cNvSpPr txBox="1"/>
          <p:nvPr/>
        </p:nvSpPr>
        <p:spPr>
          <a:xfrm>
            <a:off x="1204050" y="4825300"/>
            <a:ext cx="6735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highlight>
                  <a:srgbClr val="FFFFFF"/>
                </a:highlight>
              </a:rPr>
              <a:t>CityEdge, “Landscape photoreal,”2023,[Online; accessed 02-February-2024]. [Online]. Available: https://huggingface.co/digiplay/Landscape PhotoReal v1</a:t>
            </a:r>
            <a:endParaRPr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Image Comparison Metrics</a:t>
            </a:r>
            <a:endParaRPr/>
          </a:p>
        </p:txBody>
      </p:sp>
      <p:sp>
        <p:nvSpPr>
          <p:cNvPr id="207" name="Google Shape;207;p27"/>
          <p:cNvSpPr txBox="1"/>
          <p:nvPr>
            <p:ph idx="1" type="body"/>
          </p:nvPr>
        </p:nvSpPr>
        <p:spPr>
          <a:xfrm>
            <a:off x="729450" y="2078875"/>
            <a:ext cx="7688700" cy="4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>
                <a:latin typeface="Calibri"/>
                <a:ea typeface="Calibri"/>
                <a:cs typeface="Calibri"/>
                <a:sym typeface="Calibri"/>
              </a:rPr>
              <a:t>The four metrics used in the evaluation of our proposed method are shown below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770450" y="2944636"/>
            <a:ext cx="1657200" cy="1255800"/>
          </a:xfrm>
          <a:prstGeom prst="hexagon">
            <a:avLst>
              <a:gd fmla="val 28852" name="adj"/>
              <a:gd fmla="val 115470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latin typeface="Lato"/>
                <a:ea typeface="Lato"/>
                <a:cs typeface="Lato"/>
                <a:sym typeface="Lato"/>
              </a:rPr>
              <a:t>PSNR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9" name="Google Shape;209;p27"/>
          <p:cNvSpPr/>
          <p:nvPr/>
        </p:nvSpPr>
        <p:spPr>
          <a:xfrm>
            <a:off x="2773752" y="2944625"/>
            <a:ext cx="1657200" cy="1255800"/>
          </a:xfrm>
          <a:prstGeom prst="hexagon">
            <a:avLst>
              <a:gd fmla="val 28852" name="adj"/>
              <a:gd fmla="val 115470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latin typeface="Lato"/>
                <a:ea typeface="Lato"/>
                <a:cs typeface="Lato"/>
                <a:sym typeface="Lato"/>
              </a:rPr>
              <a:t>SSIM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0" name="Google Shape;210;p27"/>
          <p:cNvSpPr/>
          <p:nvPr/>
        </p:nvSpPr>
        <p:spPr>
          <a:xfrm>
            <a:off x="4777052" y="2944636"/>
            <a:ext cx="1657200" cy="1255800"/>
          </a:xfrm>
          <a:prstGeom prst="hexagon">
            <a:avLst>
              <a:gd fmla="val 28852" name="adj"/>
              <a:gd fmla="val 115470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>
                <a:latin typeface="Lato"/>
                <a:ea typeface="Lato"/>
                <a:cs typeface="Lato"/>
                <a:sym typeface="Lato"/>
              </a:rPr>
              <a:t>VMAF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1" name="Google Shape;211;p27"/>
          <p:cNvSpPr/>
          <p:nvPr/>
        </p:nvSpPr>
        <p:spPr>
          <a:xfrm>
            <a:off x="6780339" y="2944625"/>
            <a:ext cx="1657200" cy="1255800"/>
          </a:xfrm>
          <a:prstGeom prst="hexagon">
            <a:avLst>
              <a:gd fmla="val 28852" name="adj"/>
              <a:gd fmla="val 115470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900">
                <a:latin typeface="Lato"/>
                <a:ea typeface="Lato"/>
                <a:cs typeface="Lato"/>
                <a:sym typeface="Lato"/>
              </a:rPr>
              <a:t>DELTA E</a:t>
            </a:r>
            <a:endParaRPr sz="1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" name="Google Shape;212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Image Comparison Metrics</a:t>
            </a:r>
            <a:endParaRPr/>
          </a:p>
        </p:txBody>
      </p:sp>
      <p:sp>
        <p:nvSpPr>
          <p:cNvPr id="218" name="Google Shape;218;p28"/>
          <p:cNvSpPr txBox="1"/>
          <p:nvPr>
            <p:ph idx="1" type="body"/>
          </p:nvPr>
        </p:nvSpPr>
        <p:spPr>
          <a:xfrm>
            <a:off x="729450" y="2305225"/>
            <a:ext cx="3600000" cy="2450100"/>
          </a:xfrm>
          <a:prstGeom prst="rect">
            <a:avLst/>
          </a:prstGeom>
          <a:ln cap="flat" cmpd="sng" w="9525">
            <a:solidFill>
              <a:srgbClr val="1C86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Ratio of peak signal power to the power of noise that distorts the signal.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Measured in dB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The higher the PSNR values, the better the quality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Limitation: It does not correlate with the Human Visual System (HVS)</a:t>
            </a:r>
            <a:endParaRPr/>
          </a:p>
        </p:txBody>
      </p:sp>
      <p:pic>
        <p:nvPicPr>
          <p:cNvPr id="219" name="Google Shape;21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853850"/>
            <a:ext cx="3600000" cy="451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8138" y="1853850"/>
            <a:ext cx="3600015" cy="451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8"/>
          <p:cNvSpPr txBox="1"/>
          <p:nvPr>
            <p:ph idx="1" type="body"/>
          </p:nvPr>
        </p:nvSpPr>
        <p:spPr>
          <a:xfrm>
            <a:off x="4818150" y="2305225"/>
            <a:ext cx="3600000" cy="2450100"/>
          </a:xfrm>
          <a:prstGeom prst="rect">
            <a:avLst/>
          </a:prstGeom>
          <a:ln cap="flat" cmpd="sng" w="9525">
            <a:solidFill>
              <a:srgbClr val="1C86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This metric aligns better with the HVS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Image </a:t>
            </a:r>
            <a:r>
              <a:rPr lang="en-CA"/>
              <a:t>quality</a:t>
            </a:r>
            <a:r>
              <a:rPr lang="en-CA"/>
              <a:t> is </a:t>
            </a:r>
            <a:r>
              <a:rPr lang="en-CA"/>
              <a:t>quantified</a:t>
            </a:r>
            <a:r>
              <a:rPr lang="en-CA"/>
              <a:t> using structure, luminance and contrast.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Values range between 0 and 1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Limitation: Performs poorly on low quality images.</a:t>
            </a:r>
            <a:endParaRPr/>
          </a:p>
        </p:txBody>
      </p:sp>
      <p:pic>
        <p:nvPicPr>
          <p:cNvPr id="222" name="Google Shape;222;p28"/>
          <p:cNvPicPr preferRelativeResize="0"/>
          <p:nvPr/>
        </p:nvPicPr>
        <p:blipFill rotWithShape="1">
          <a:blip r:embed="rId5">
            <a:alphaModFix/>
          </a:blip>
          <a:srcRect b="35062" l="4706" r="32543" t="38884"/>
          <a:stretch/>
        </p:blipFill>
        <p:spPr>
          <a:xfrm>
            <a:off x="1149013" y="4048925"/>
            <a:ext cx="2760875" cy="60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7750" y="4081825"/>
            <a:ext cx="3480799" cy="5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Image Comparison Metrics</a:t>
            </a:r>
            <a:endParaRPr/>
          </a:p>
        </p:txBody>
      </p:sp>
      <p:sp>
        <p:nvSpPr>
          <p:cNvPr id="230" name="Google Shape;230;p29"/>
          <p:cNvSpPr txBox="1"/>
          <p:nvPr>
            <p:ph idx="1" type="body"/>
          </p:nvPr>
        </p:nvSpPr>
        <p:spPr>
          <a:xfrm>
            <a:off x="729450" y="2305225"/>
            <a:ext cx="3600300" cy="2553900"/>
          </a:xfrm>
          <a:prstGeom prst="rect">
            <a:avLst/>
          </a:prstGeom>
          <a:ln cap="flat" cmpd="sng" w="9525">
            <a:solidFill>
              <a:srgbClr val="1C86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Video quality metric </a:t>
            </a:r>
            <a:r>
              <a:rPr lang="en-CA"/>
              <a:t>created by Netflix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Creates a score between 0-100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Aligns closely with  results from subjective tests and human perception.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We used both versions of VMAF for our experiments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CA"/>
              <a:t>VMAF 1080p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CA"/>
              <a:t>VMAF 4K</a:t>
            </a:r>
            <a:endParaRPr/>
          </a:p>
        </p:txBody>
      </p:sp>
      <p:pic>
        <p:nvPicPr>
          <p:cNvPr id="231" name="Google Shape;23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853850"/>
            <a:ext cx="3600200" cy="45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8150" y="1853850"/>
            <a:ext cx="3600000" cy="451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9"/>
          <p:cNvSpPr txBox="1"/>
          <p:nvPr>
            <p:ph idx="1" type="body"/>
          </p:nvPr>
        </p:nvSpPr>
        <p:spPr>
          <a:xfrm>
            <a:off x="4818000" y="2305225"/>
            <a:ext cx="3600300" cy="2553900"/>
          </a:xfrm>
          <a:prstGeom prst="rect">
            <a:avLst/>
          </a:prstGeom>
          <a:ln cap="flat" cmpd="sng" w="9525">
            <a:solidFill>
              <a:srgbClr val="1C86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Created by International </a:t>
            </a:r>
            <a:r>
              <a:rPr lang="en-CA"/>
              <a:t>Commision on Illumination (CIE)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Measures the distance between colours in the CIELAB colour space.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Colour accuracy is the key focus on this metric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We used the </a:t>
            </a:r>
            <a:r>
              <a:rPr lang="en-CA"/>
              <a:t>CIE 2000</a:t>
            </a:r>
            <a:r>
              <a:rPr lang="en-CA"/>
              <a:t> version of Delta E for our experiments.</a:t>
            </a:r>
            <a:endParaRPr/>
          </a:p>
        </p:txBody>
      </p:sp>
      <p:sp>
        <p:nvSpPr>
          <p:cNvPr id="234" name="Google Shape;234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title"/>
          </p:nvPr>
        </p:nvSpPr>
        <p:spPr>
          <a:xfrm>
            <a:off x="727650" y="572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Experiments:  from Extrema to Standard Deviation</a:t>
            </a:r>
            <a:endParaRPr/>
          </a:p>
        </p:txBody>
      </p:sp>
      <p:pic>
        <p:nvPicPr>
          <p:cNvPr id="240" name="Google Shape;2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50975"/>
            <a:ext cx="4475377" cy="2982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8622" y="1750986"/>
            <a:ext cx="4475377" cy="29828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2" name="Google Shape;242;p30"/>
          <p:cNvCxnSpPr/>
          <p:nvPr/>
        </p:nvCxnSpPr>
        <p:spPr>
          <a:xfrm>
            <a:off x="4062025" y="3282750"/>
            <a:ext cx="892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3" name="Google Shape;243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 txBox="1"/>
          <p:nvPr>
            <p:ph type="title"/>
          </p:nvPr>
        </p:nvSpPr>
        <p:spPr>
          <a:xfrm>
            <a:off x="727800" y="5357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Real vs. Fake:  </a:t>
            </a:r>
            <a:r>
              <a:rPr lang="en-CA"/>
              <a:t>PSNR of Bayer Patterns</a:t>
            </a:r>
            <a:endParaRPr/>
          </a:p>
        </p:txBody>
      </p:sp>
      <p:pic>
        <p:nvPicPr>
          <p:cNvPr id="249" name="Google Shape;24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000" y="1107375"/>
            <a:ext cx="4153007" cy="376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1225" y="1107375"/>
            <a:ext cx="4167349" cy="376427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type="title"/>
          </p:nvPr>
        </p:nvSpPr>
        <p:spPr>
          <a:xfrm>
            <a:off x="0" y="-36425"/>
            <a:ext cx="9144000" cy="5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    Results:  </a:t>
            </a:r>
            <a:r>
              <a:rPr lang="en-CA"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n-CA"/>
              <a:t> Metrics on </a:t>
            </a:r>
            <a:r>
              <a:rPr lang="en-CA"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n-CA"/>
              <a:t> Datasets,  using </a:t>
            </a:r>
            <a:r>
              <a:rPr lang="en-CA">
                <a:latin typeface="Lato"/>
                <a:ea typeface="Lato"/>
                <a:cs typeface="Lato"/>
                <a:sym typeface="Lato"/>
              </a:rPr>
              <a:t>5%</a:t>
            </a:r>
            <a:r>
              <a:rPr lang="en-CA"/>
              <a:t> Quantile</a:t>
            </a:r>
            <a:endParaRPr/>
          </a:p>
        </p:txBody>
      </p:sp>
      <p:pic>
        <p:nvPicPr>
          <p:cNvPr id="257" name="Google Shape;25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49375"/>
            <a:ext cx="8683453" cy="4341727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>
            <p:ph type="title"/>
          </p:nvPr>
        </p:nvSpPr>
        <p:spPr>
          <a:xfrm>
            <a:off x="0" y="-36425"/>
            <a:ext cx="9144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    Results:  PSNR on </a:t>
            </a:r>
            <a:r>
              <a:rPr lang="en-CA"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n-CA"/>
              <a:t> Datasets,  using </a:t>
            </a:r>
            <a:r>
              <a:rPr lang="en-CA">
                <a:latin typeface="Lato"/>
                <a:ea typeface="Lato"/>
                <a:cs typeface="Lato"/>
                <a:sym typeface="Lato"/>
              </a:rPr>
              <a:t>0,1,2,3,5,10</a:t>
            </a:r>
            <a:r>
              <a:rPr lang="en-CA">
                <a:latin typeface="Lato"/>
                <a:ea typeface="Lato"/>
                <a:cs typeface="Lato"/>
                <a:sym typeface="Lato"/>
              </a:rPr>
              <a:t>(%)</a:t>
            </a:r>
            <a:r>
              <a:rPr lang="en-CA"/>
              <a:t> Quantiles</a:t>
            </a:r>
            <a:endParaRPr/>
          </a:p>
        </p:txBody>
      </p:sp>
      <p:pic>
        <p:nvPicPr>
          <p:cNvPr id="264" name="Google Shape;26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25" y="786313"/>
            <a:ext cx="4572001" cy="274364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5" name="Google Shape;265;p33"/>
          <p:cNvGraphicFramePr/>
          <p:nvPr/>
        </p:nvGraphicFramePr>
        <p:xfrm>
          <a:off x="647700" y="388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{D64D40D6-E1E1-4D3D-A5D7-823843071A3E}</a:tableStyleId>
              </a:tblPr>
              <a:tblGrid>
                <a:gridCol w="1849600"/>
                <a:gridCol w="1232725"/>
                <a:gridCol w="1122250"/>
                <a:gridCol w="1693100"/>
                <a:gridCol w="1950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RAISE 1000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GenImage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DiffusionDB 1000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Landscape PhotoReal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1% Quantile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99%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95.57%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100%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100%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66" name="Google Shape;266;p33"/>
          <p:cNvCxnSpPr/>
          <p:nvPr/>
        </p:nvCxnSpPr>
        <p:spPr>
          <a:xfrm>
            <a:off x="666363" y="3883575"/>
            <a:ext cx="1839000" cy="391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33"/>
          <p:cNvSpPr txBox="1"/>
          <p:nvPr/>
        </p:nvSpPr>
        <p:spPr>
          <a:xfrm>
            <a:off x="647713" y="3947300"/>
            <a:ext cx="7011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latin typeface="Lato"/>
                <a:ea typeface="Lato"/>
                <a:cs typeface="Lato"/>
                <a:sym typeface="Lato"/>
              </a:rPr>
              <a:t>PSNR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8" name="Google Shape;268;p33"/>
          <p:cNvSpPr txBox="1"/>
          <p:nvPr/>
        </p:nvSpPr>
        <p:spPr>
          <a:xfrm>
            <a:off x="1657563" y="3817500"/>
            <a:ext cx="8478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latin typeface="Lato"/>
                <a:ea typeface="Lato"/>
                <a:cs typeface="Lato"/>
                <a:sym typeface="Lato"/>
              </a:rPr>
              <a:t>Datasets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9" name="Google Shape;26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9727" y="773213"/>
            <a:ext cx="4310548" cy="276985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>
            <p:ph type="title"/>
          </p:nvPr>
        </p:nvSpPr>
        <p:spPr>
          <a:xfrm>
            <a:off x="0" y="-45500"/>
            <a:ext cx="9144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    </a:t>
            </a:r>
            <a:r>
              <a:rPr lang="en-CA"/>
              <a:t>Results:  </a:t>
            </a:r>
            <a:r>
              <a:rPr lang="en-CA">
                <a:latin typeface="Lato"/>
                <a:ea typeface="Lato"/>
                <a:cs typeface="Lato"/>
                <a:sym typeface="Lato"/>
              </a:rPr>
              <a:t>4</a:t>
            </a:r>
            <a:r>
              <a:rPr lang="en-CA"/>
              <a:t> Metrics on </a:t>
            </a:r>
            <a:r>
              <a:rPr lang="en-CA"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n-CA"/>
              <a:t> Test Sets,  using </a:t>
            </a:r>
            <a:r>
              <a:rPr lang="en-CA">
                <a:latin typeface="Lato"/>
                <a:ea typeface="Lato"/>
                <a:cs typeface="Lato"/>
                <a:sym typeface="Lato"/>
              </a:rPr>
              <a:t>6</a:t>
            </a:r>
            <a:r>
              <a:rPr lang="en-CA"/>
              <a:t> ML Algorithms</a:t>
            </a:r>
            <a:endParaRPr/>
          </a:p>
        </p:txBody>
      </p:sp>
      <p:pic>
        <p:nvPicPr>
          <p:cNvPr id="276" name="Google Shape;2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250" y="565898"/>
            <a:ext cx="2951549" cy="1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0504" y="565891"/>
            <a:ext cx="1624880" cy="1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7725" y="565893"/>
            <a:ext cx="3023535" cy="1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918098"/>
            <a:ext cx="8839204" cy="397936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JPEG Compressed Real Images as Reference</a:t>
            </a:r>
            <a:endParaRPr/>
          </a:p>
        </p:txBody>
      </p:sp>
      <p:sp>
        <p:nvSpPr>
          <p:cNvPr id="286" name="Google Shape;286;p3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CA" sz="1600"/>
              <a:t>Instead of using original images in the RAISE 1000 dataset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CA" sz="1600"/>
              <a:t>Use JPEG compression to compress the images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CA" sz="1400"/>
              <a:t>Quality 25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CA" sz="1400"/>
              <a:t>Quality 75</a:t>
            </a:r>
            <a:endParaRPr sz="1400"/>
          </a:p>
        </p:txBody>
      </p:sp>
      <p:sp>
        <p:nvSpPr>
          <p:cNvPr id="287" name="Google Shape;287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8839201" cy="238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850" y="2571750"/>
            <a:ext cx="4018611" cy="255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7825" y="2571750"/>
            <a:ext cx="4115803" cy="2558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6"/>
          <p:cNvSpPr txBox="1"/>
          <p:nvPr/>
        </p:nvSpPr>
        <p:spPr>
          <a:xfrm>
            <a:off x="2022175" y="1073325"/>
            <a:ext cx="6564300" cy="3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PSNR                                                                                                                                   SSIM</a:t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VMAF                                                                                                                                  Delta-E</a:t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6" name="Google Shape;296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200" y="0"/>
            <a:ext cx="8687663" cy="24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500" y="2682437"/>
            <a:ext cx="4223575" cy="243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56075" y="2657575"/>
            <a:ext cx="4047429" cy="24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7"/>
          <p:cNvSpPr txBox="1"/>
          <p:nvPr/>
        </p:nvSpPr>
        <p:spPr>
          <a:xfrm>
            <a:off x="2186575" y="1085075"/>
            <a:ext cx="6564300" cy="3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PSNR                                                                                                                                   SSIM</a:t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VMAF                                                                                                                                  Delta-E</a:t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" name="Google Shape;307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Bayer Pattern Prediction Accuracy</a:t>
            </a:r>
            <a:endParaRPr/>
          </a:p>
        </p:txBody>
      </p:sp>
      <p:pic>
        <p:nvPicPr>
          <p:cNvPr id="313" name="Google Shape;313;p38"/>
          <p:cNvPicPr preferRelativeResize="0"/>
          <p:nvPr/>
        </p:nvPicPr>
        <p:blipFill rotWithShape="1">
          <a:blip r:embed="rId3">
            <a:alphaModFix/>
          </a:blip>
          <a:srcRect b="0" l="0" r="7851" t="0"/>
          <a:stretch/>
        </p:blipFill>
        <p:spPr>
          <a:xfrm>
            <a:off x="729450" y="1910850"/>
            <a:ext cx="6336524" cy="27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8"/>
          <p:cNvSpPr txBox="1"/>
          <p:nvPr/>
        </p:nvSpPr>
        <p:spPr>
          <a:xfrm>
            <a:off x="7065975" y="3023200"/>
            <a:ext cx="7356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56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5" name="Google Shape;315;p38"/>
          <p:cNvSpPr txBox="1"/>
          <p:nvPr/>
        </p:nvSpPr>
        <p:spPr>
          <a:xfrm>
            <a:off x="7086500" y="3469800"/>
            <a:ext cx="7356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60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6" name="Google Shape;316;p38"/>
          <p:cNvSpPr txBox="1"/>
          <p:nvPr/>
        </p:nvSpPr>
        <p:spPr>
          <a:xfrm>
            <a:off x="7086500" y="3916400"/>
            <a:ext cx="7356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58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7" name="Google Shape;317;p38"/>
          <p:cNvSpPr txBox="1"/>
          <p:nvPr/>
        </p:nvSpPr>
        <p:spPr>
          <a:xfrm>
            <a:off x="7086500" y="4332575"/>
            <a:ext cx="7356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59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8" name="Google Shape;318;p38"/>
          <p:cNvSpPr/>
          <p:nvPr/>
        </p:nvSpPr>
        <p:spPr>
          <a:xfrm>
            <a:off x="7481925" y="3545225"/>
            <a:ext cx="274500" cy="274500"/>
          </a:xfrm>
          <a:prstGeom prst="hear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9" name="Google Shape;319;p3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Bayer Pattern Prediction Accuracy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25" name="Google Shape;325;p39"/>
          <p:cNvGraphicFramePr/>
          <p:nvPr/>
        </p:nvGraphicFramePr>
        <p:xfrm>
          <a:off x="840900" y="218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{D64D40D6-E1E1-4D3D-A5D7-823843071A3E}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PSNR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SSIM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VMAF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DeltaE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Uncompressed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58%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57%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61%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57%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25-Quality compressed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25%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17%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72%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18%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75-Quality compressed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43%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34%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71%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41%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6" name="Google Shape;326;p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Resized</a:t>
            </a:r>
            <a:r>
              <a:rPr lang="en-CA"/>
              <a:t> Real Images as Reference</a:t>
            </a:r>
            <a:endParaRPr/>
          </a:p>
        </p:txBody>
      </p:sp>
      <p:sp>
        <p:nvSpPr>
          <p:cNvPr id="332" name="Google Shape;332;p4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CA" sz="1600"/>
              <a:t>Instead of using original images in the RAISE 1000 dataset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CA" sz="1600"/>
              <a:t>Use resized images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CA" sz="1400"/>
              <a:t>Resize each dimension by a factor of 0.25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CA" sz="1400"/>
              <a:t>Resize each dimension by a factor of 0.5</a:t>
            </a:r>
            <a:endParaRPr sz="1400"/>
          </a:p>
        </p:txBody>
      </p:sp>
      <p:sp>
        <p:nvSpPr>
          <p:cNvPr id="333" name="Google Shape;333;p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9" name="Google Shape;33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873750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621174"/>
            <a:ext cx="4502675" cy="252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1325" y="2670100"/>
            <a:ext cx="4074450" cy="22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1"/>
          <p:cNvSpPr txBox="1"/>
          <p:nvPr/>
        </p:nvSpPr>
        <p:spPr>
          <a:xfrm>
            <a:off x="2520700" y="509650"/>
            <a:ext cx="6564300" cy="3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PSNR                                                                                                                                   SSIM</a:t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VMAF                                                                                                                        Delta-E</a:t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3" name="Google Shape;343;p4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Bayer Pattern Prediction Accuracy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49" name="Google Shape;349;p42"/>
          <p:cNvGraphicFramePr/>
          <p:nvPr/>
        </p:nvGraphicFramePr>
        <p:xfrm>
          <a:off x="840900" y="218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{D64D40D6-E1E1-4D3D-A5D7-823843071A3E}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PSNR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SSIM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VMAF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DeltaE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Unresized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58%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57%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61%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57%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x0.25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26%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</a:t>
                      </a:r>
                      <a:r>
                        <a:rPr lang="en-CA"/>
                        <a:t>7%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72%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26</a:t>
                      </a:r>
                      <a:r>
                        <a:rPr lang="en-CA"/>
                        <a:t>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x0.5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26</a:t>
                      </a:r>
                      <a:r>
                        <a:rPr lang="en-CA"/>
                        <a:t>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25</a:t>
                      </a:r>
                      <a:r>
                        <a:rPr lang="en-CA"/>
                        <a:t>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72%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23</a:t>
                      </a:r>
                      <a:r>
                        <a:rPr lang="en-CA"/>
                        <a:t>%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0" name="Google Shape;350;p4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Compressed/Resized Real Images</a:t>
            </a:r>
            <a:endParaRPr/>
          </a:p>
        </p:txBody>
      </p:sp>
      <p:sp>
        <p:nvSpPr>
          <p:cNvPr id="356" name="Google Shape;356;p4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CA" sz="1600"/>
              <a:t>Shift the</a:t>
            </a:r>
            <a:r>
              <a:rPr lang="en-CA" sz="1600"/>
              <a:t> standard deviation </a:t>
            </a:r>
            <a:r>
              <a:rPr b="1" lang="en-CA" sz="1600"/>
              <a:t>distributions </a:t>
            </a:r>
            <a:r>
              <a:rPr lang="en-CA" sz="1600"/>
              <a:t>similar to fake images.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CA" sz="1600"/>
              <a:t>The approach </a:t>
            </a:r>
            <a:r>
              <a:rPr b="1" lang="en-CA" sz="1600"/>
              <a:t>will not work on altered real images</a:t>
            </a:r>
            <a:r>
              <a:rPr lang="en-CA" sz="1600"/>
              <a:t>.</a:t>
            </a:r>
            <a:endParaRPr sz="1600"/>
          </a:p>
        </p:txBody>
      </p:sp>
      <p:sp>
        <p:nvSpPr>
          <p:cNvPr id="357" name="Google Shape;357;p43"/>
          <p:cNvSpPr/>
          <p:nvPr/>
        </p:nvSpPr>
        <p:spPr>
          <a:xfrm>
            <a:off x="3712950" y="3057925"/>
            <a:ext cx="1721700" cy="1721700"/>
          </a:xfrm>
          <a:prstGeom prst="mathMultiply">
            <a:avLst>
              <a:gd fmla="val 23520" name="adj1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8" name="Google Shape;358;p4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Other Demosaicing Algorithms</a:t>
            </a:r>
            <a:endParaRPr/>
          </a:p>
        </p:txBody>
      </p:sp>
      <p:sp>
        <p:nvSpPr>
          <p:cNvPr id="364" name="Google Shape;364;p44"/>
          <p:cNvSpPr txBox="1"/>
          <p:nvPr>
            <p:ph idx="1" type="body"/>
          </p:nvPr>
        </p:nvSpPr>
        <p:spPr>
          <a:xfrm>
            <a:off x="729450" y="2078875"/>
            <a:ext cx="7688700" cy="27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CA" sz="1600"/>
              <a:t>Realistically we </a:t>
            </a:r>
            <a:r>
              <a:rPr b="1" lang="en-CA" sz="1600"/>
              <a:t>do not know</a:t>
            </a:r>
            <a:r>
              <a:rPr lang="en-CA" sz="1600"/>
              <a:t> what is the </a:t>
            </a:r>
            <a:r>
              <a:rPr lang="en-CA" sz="1600"/>
              <a:t>proprietary</a:t>
            </a:r>
            <a:r>
              <a:rPr lang="en-CA" sz="1600"/>
              <a:t> </a:t>
            </a:r>
            <a:r>
              <a:rPr b="1" lang="en-CA" sz="1600"/>
              <a:t>demosaicing algorithms used by the camera manufacturers.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CA" sz="1600"/>
              <a:t>The </a:t>
            </a:r>
            <a:r>
              <a:rPr b="1" lang="en-CA" sz="1600"/>
              <a:t>performance may depend</a:t>
            </a:r>
            <a:r>
              <a:rPr lang="en-CA" sz="1600"/>
              <a:t> on the choice of </a:t>
            </a:r>
            <a:r>
              <a:rPr b="1" lang="en-CA" sz="1600"/>
              <a:t>demosaicing algorithm</a:t>
            </a:r>
            <a:r>
              <a:rPr lang="en-CA" sz="1600"/>
              <a:t>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CA" sz="1600"/>
              <a:t>Tried other demosaicing </a:t>
            </a:r>
            <a:r>
              <a:rPr lang="en-CA" sz="1600"/>
              <a:t>algorithms and compare the results.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CA" sz="1400"/>
              <a:t>Edge-aware demosaicing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CA" sz="1400"/>
              <a:t>Variable number of gradients demosaicing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CA" sz="1400"/>
              <a:t>Bilinear demosaicing</a:t>
            </a:r>
            <a:endParaRPr sz="1400"/>
          </a:p>
        </p:txBody>
      </p:sp>
      <p:sp>
        <p:nvSpPr>
          <p:cNvPr id="365" name="Google Shape;365;p4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5"/>
          <p:cNvPicPr preferRelativeResize="0"/>
          <p:nvPr/>
        </p:nvPicPr>
        <p:blipFill rotWithShape="1">
          <a:blip r:embed="rId3">
            <a:alphaModFix/>
          </a:blip>
          <a:srcRect b="13525" l="0" r="0" t="0"/>
          <a:stretch/>
        </p:blipFill>
        <p:spPr>
          <a:xfrm>
            <a:off x="106450" y="1302525"/>
            <a:ext cx="4511975" cy="12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5"/>
          <p:cNvPicPr preferRelativeResize="0"/>
          <p:nvPr/>
        </p:nvPicPr>
        <p:blipFill rotWithShape="1">
          <a:blip r:embed="rId4">
            <a:alphaModFix/>
          </a:blip>
          <a:srcRect b="50207" l="0" r="0" t="0"/>
          <a:stretch/>
        </p:blipFill>
        <p:spPr>
          <a:xfrm>
            <a:off x="2430538" y="894650"/>
            <a:ext cx="1981200" cy="40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45"/>
          <p:cNvPicPr preferRelativeResize="0"/>
          <p:nvPr/>
        </p:nvPicPr>
        <p:blipFill rotWithShape="1">
          <a:blip r:embed="rId4">
            <a:alphaModFix/>
          </a:blip>
          <a:srcRect b="0" l="0" r="0" t="50207"/>
          <a:stretch/>
        </p:blipFill>
        <p:spPr>
          <a:xfrm>
            <a:off x="4461838" y="847675"/>
            <a:ext cx="1981200" cy="407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5"/>
          <p:cNvSpPr txBox="1"/>
          <p:nvPr/>
        </p:nvSpPr>
        <p:spPr>
          <a:xfrm>
            <a:off x="918313" y="2644175"/>
            <a:ext cx="34173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Malvar et al. demosaicing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4" name="Google Shape;374;p45"/>
          <p:cNvSpPr txBox="1"/>
          <p:nvPr/>
        </p:nvSpPr>
        <p:spPr>
          <a:xfrm>
            <a:off x="5119338" y="2669213"/>
            <a:ext cx="34173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Variable number of gradients</a:t>
            </a:r>
            <a:r>
              <a:rPr lang="en-CA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demosaicing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5" name="Google Shape;375;p45"/>
          <p:cNvSpPr txBox="1"/>
          <p:nvPr/>
        </p:nvSpPr>
        <p:spPr>
          <a:xfrm>
            <a:off x="730800" y="4490888"/>
            <a:ext cx="34173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Edge aware</a:t>
            </a:r>
            <a:r>
              <a:rPr lang="en-CA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demosaicing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6" name="Google Shape;376;p45"/>
          <p:cNvSpPr txBox="1"/>
          <p:nvPr/>
        </p:nvSpPr>
        <p:spPr>
          <a:xfrm>
            <a:off x="4995888" y="4561088"/>
            <a:ext cx="34173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Bilinear</a:t>
            </a:r>
            <a:r>
              <a:rPr lang="en-CA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demosaicing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7" name="Google Shape;377;p45"/>
          <p:cNvSpPr txBox="1"/>
          <p:nvPr>
            <p:ph idx="4294967295" type="title"/>
          </p:nvPr>
        </p:nvSpPr>
        <p:spPr>
          <a:xfrm>
            <a:off x="138150" y="203050"/>
            <a:ext cx="8867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Distributions of Image Comparison Standard Deviations </a:t>
            </a:r>
            <a:endParaRPr/>
          </a:p>
        </p:txBody>
      </p:sp>
      <p:pic>
        <p:nvPicPr>
          <p:cNvPr id="378" name="Google Shape;378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8425" y="3217950"/>
            <a:ext cx="4419100" cy="120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18425" y="1322376"/>
            <a:ext cx="4419101" cy="1206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6450" y="3217950"/>
            <a:ext cx="4511974" cy="1226249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Other Demosaicing Algorithms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CA" sz="1600"/>
              <a:t>In general, </a:t>
            </a:r>
            <a:r>
              <a:rPr b="1" lang="en-CA" sz="1600"/>
              <a:t>Malvar et al. demosaicing</a:t>
            </a:r>
            <a:r>
              <a:rPr lang="en-CA" sz="1600"/>
              <a:t> works really well.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CA" sz="1600"/>
              <a:t>Unsure if the observation generalize to other cameras.</a:t>
            </a:r>
            <a:endParaRPr sz="1600"/>
          </a:p>
        </p:txBody>
      </p:sp>
      <p:sp>
        <p:nvSpPr>
          <p:cNvPr id="388" name="Google Shape;388;p4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Summary</a:t>
            </a:r>
            <a:endParaRPr/>
          </a:p>
        </p:txBody>
      </p:sp>
      <p:sp>
        <p:nvSpPr>
          <p:cNvPr id="394" name="Google Shape;394;p4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A novel approach to differentiate fake images from real images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CA"/>
              <a:t>Works as long as the Bayer patterns in the real images are not broken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Future works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CA"/>
              <a:t>Explore how much do compression and resizing shift the distributions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CA"/>
              <a:t>Repeat the experiment on other real images taken by cameras from other manufacturers.</a:t>
            </a:r>
            <a:endParaRPr/>
          </a:p>
        </p:txBody>
      </p:sp>
      <p:pic>
        <p:nvPicPr>
          <p:cNvPr id="395" name="Google Shape;39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3925" y="3620525"/>
            <a:ext cx="4559751" cy="1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