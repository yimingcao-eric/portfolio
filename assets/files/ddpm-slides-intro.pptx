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embeddedFontLst>
    <p:embeddedFont>
      <p:font typeface="Roboto"/>
      <p:regular r:id="rId35"/>
      <p:bold r:id="rId36"/>
      <p:italic r:id="rId37"/>
      <p:boldItalic r:id="rId38"/>
    </p:embeddedFont>
    <p:embeddedFont>
      <p:font typeface="Poppi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jx68JDbPTKNf0B55xFkikv00Dn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20" Type="http://schemas.openxmlformats.org/officeDocument/2006/relationships/slide" Target="slides/slide15.xml"/><Relationship Id="rId42" Type="http://schemas.openxmlformats.org/officeDocument/2006/relationships/font" Target="fonts/Poppins-boldItalic.fntdata"/><Relationship Id="rId41" Type="http://schemas.openxmlformats.org/officeDocument/2006/relationships/font" Target="fonts/Poppins-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Poppins-regular.fnt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CA"/>
              <a:t>Today, </a:t>
            </a:r>
            <a:r>
              <a:rPr b="0" i="0" lang="en-CA">
                <a:solidFill>
                  <a:srgbClr val="D1D5DB"/>
                </a:solidFill>
                <a:latin typeface="Arial"/>
                <a:ea typeface="Arial"/>
                <a:cs typeface="Arial"/>
                <a:sym typeface="Arial"/>
              </a:rPr>
              <a:t>we’re excited to share with you something really cool about DDPM which stands for </a:t>
            </a:r>
            <a:r>
              <a:rPr b="0" i="0" lang="en-CA">
                <a:solidFill>
                  <a:schemeClr val="lt1"/>
                </a:solidFill>
                <a:latin typeface="Arial"/>
                <a:ea typeface="Arial"/>
                <a:cs typeface="Arial"/>
                <a:sym typeface="Arial"/>
              </a:rPr>
              <a:t>Denoising Diffusion Probabilistic Models</a:t>
            </a:r>
            <a:r>
              <a:rPr lang="en-CA"/>
              <a:t>. I believe everyone here has heard of stable diffusion or midjourney, pretty fun, right?</a:t>
            </a:r>
            <a:endParaRPr/>
          </a:p>
        </p:txBody>
      </p:sp>
      <p:sp>
        <p:nvSpPr>
          <p:cNvPr id="99" name="Google Shape;9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CA" sz="2200">
                <a:solidFill>
                  <a:srgbClr val="1E1E1E"/>
                </a:solidFill>
                <a:latin typeface="Roboto"/>
                <a:ea typeface="Roboto"/>
                <a:cs typeface="Roboto"/>
                <a:sym typeface="Roboto"/>
              </a:rPr>
              <a:t>Before we understand Diffusion models, let’s quickly understand the meaning of the term </a:t>
            </a:r>
            <a:r>
              <a:rPr b="0" i="1" lang="en-CA" sz="2200">
                <a:solidFill>
                  <a:srgbClr val="1E1E1E"/>
                </a:solidFill>
                <a:latin typeface="Roboto"/>
                <a:ea typeface="Roboto"/>
                <a:cs typeface="Roboto"/>
                <a:sym typeface="Roboto"/>
              </a:rPr>
              <a:t>“Diffusion.”</a:t>
            </a:r>
            <a:r>
              <a:rPr b="0" i="0" lang="en-CA" sz="2200">
                <a:solidFill>
                  <a:srgbClr val="1E1E1E"/>
                </a:solidFill>
                <a:latin typeface="Roboto"/>
                <a:ea typeface="Roboto"/>
                <a:cs typeface="Roboto"/>
                <a:sym typeface="Roboto"/>
              </a:rPr>
              <a:t> Diffusion (or Diffusion process) is a well-known and explored domain in </a:t>
            </a:r>
            <a:r>
              <a:rPr b="0" i="1" lang="en-CA" sz="2200">
                <a:solidFill>
                  <a:srgbClr val="1E1E1E"/>
                </a:solidFill>
                <a:latin typeface="Roboto"/>
                <a:ea typeface="Roboto"/>
                <a:cs typeface="Roboto"/>
                <a:sym typeface="Roboto"/>
              </a:rPr>
              <a:t>physics.</a:t>
            </a:r>
            <a:r>
              <a:rPr b="0" i="0" lang="en-CA" sz="2200">
                <a:solidFill>
                  <a:srgbClr val="1E1E1E"/>
                </a:solidFill>
                <a:latin typeface="Roboto"/>
                <a:ea typeface="Roboto"/>
                <a:cs typeface="Roboto"/>
                <a:sym typeface="Roboto"/>
              </a:rPr>
              <a:t> </a:t>
            </a:r>
            <a:endParaRPr/>
          </a:p>
          <a:p>
            <a:pPr indent="0" lvl="0" marL="0" rtl="0" algn="l">
              <a:spcBef>
                <a:spcPts val="0"/>
              </a:spcBef>
              <a:spcAft>
                <a:spcPts val="0"/>
              </a:spcAft>
              <a:buNone/>
            </a:pPr>
            <a:r>
              <a:rPr b="0" i="0" lang="en-CA" sz="2200">
                <a:solidFill>
                  <a:srgbClr val="D1D5DB"/>
                </a:solidFill>
                <a:latin typeface="Arial"/>
                <a:ea typeface="Arial"/>
                <a:cs typeface="Arial"/>
                <a:sym typeface="Arial"/>
              </a:rPr>
              <a:t>In simple terms, diffusion is like how a smell </a:t>
            </a:r>
            <a:r>
              <a:rPr b="0" i="0" lang="en-CA" sz="5200">
                <a:solidFill>
                  <a:srgbClr val="D1D5DB"/>
                </a:solidFill>
                <a:latin typeface="Arial"/>
                <a:ea typeface="Arial"/>
                <a:cs typeface="Arial"/>
                <a:sym typeface="Arial"/>
              </a:rPr>
              <a:t>spreads</a:t>
            </a:r>
            <a:r>
              <a:rPr b="0" i="0" lang="en-CA" sz="2200">
                <a:solidFill>
                  <a:srgbClr val="D1D5DB"/>
                </a:solidFill>
                <a:latin typeface="Arial"/>
                <a:ea typeface="Arial"/>
                <a:cs typeface="Arial"/>
                <a:sym typeface="Arial"/>
              </a:rPr>
              <a:t> in a room – it moves from where it's strong to where it's weak.</a:t>
            </a:r>
            <a:endParaRPr sz="2200"/>
          </a:p>
        </p:txBody>
      </p:sp>
      <p:sp>
        <p:nvSpPr>
          <p:cNvPr id="110" name="Google Shape;11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CA">
                <a:solidFill>
                  <a:srgbClr val="D1D5DB"/>
                </a:solidFill>
                <a:latin typeface="Arial"/>
                <a:ea typeface="Arial"/>
                <a:cs typeface="Arial"/>
                <a:sym typeface="Arial"/>
              </a:rPr>
              <a:t>In DDPMs, we use this idea but in a computer way. We start with a bunch of noise, which is like random, messy data, and then we carefully remove this noise to make something useful, like an image.</a:t>
            </a:r>
            <a:endParaRPr/>
          </a:p>
          <a:p>
            <a:pPr indent="0" lvl="0" marL="0" rtl="0" algn="l">
              <a:spcBef>
                <a:spcPts val="0"/>
              </a:spcBef>
              <a:spcAft>
                <a:spcPts val="0"/>
              </a:spcAft>
              <a:buNone/>
            </a:pPr>
            <a:r>
              <a:rPr b="0" i="0" lang="en-CA">
                <a:solidFill>
                  <a:srgbClr val="3C3C3C"/>
                </a:solidFill>
                <a:latin typeface="Roboto"/>
                <a:ea typeface="Roboto"/>
                <a:cs typeface="Roboto"/>
                <a:sym typeface="Roboto"/>
              </a:rPr>
              <a:t>Basically, </a:t>
            </a:r>
            <a:r>
              <a:rPr b="0" i="0" lang="en-CA">
                <a:solidFill>
                  <a:srgbClr val="D1D5DB"/>
                </a:solidFill>
                <a:latin typeface="Arial"/>
                <a:ea typeface="Arial"/>
                <a:cs typeface="Arial"/>
                <a:sym typeface="Arial"/>
              </a:rPr>
              <a:t>there are two main types of these models:</a:t>
            </a:r>
            <a:endParaRPr/>
          </a:p>
          <a:p>
            <a:pPr indent="0" lvl="0" marL="0" rtl="0" algn="l">
              <a:spcBef>
                <a:spcPts val="0"/>
              </a:spcBef>
              <a:spcAft>
                <a:spcPts val="0"/>
              </a:spcAft>
              <a:buNone/>
            </a:pPr>
            <a:r>
              <a:rPr b="0" i="0" lang="en-CA">
                <a:solidFill>
                  <a:srgbClr val="D1D5DB"/>
                </a:solidFill>
                <a:latin typeface="Arial"/>
                <a:ea typeface="Arial"/>
                <a:cs typeface="Arial"/>
                <a:sym typeface="Arial"/>
              </a:rPr>
              <a:t>One that t</a:t>
            </a:r>
            <a:r>
              <a:rPr b="0" i="0" lang="en-CA">
                <a:solidFill>
                  <a:srgbClr val="3C3C3C"/>
                </a:solidFill>
                <a:latin typeface="Roboto"/>
                <a:ea typeface="Roboto"/>
                <a:cs typeface="Roboto"/>
                <a:sym typeface="Roboto"/>
              </a:rPr>
              <a:t>he generation process is not controlled or guided, and the model can generate an image of any nature.</a:t>
            </a:r>
            <a:endParaRPr/>
          </a:p>
          <a:p>
            <a:pPr indent="0" lvl="0" marL="0" rtl="0" algn="l">
              <a:spcBef>
                <a:spcPts val="0"/>
              </a:spcBef>
              <a:spcAft>
                <a:spcPts val="0"/>
              </a:spcAft>
              <a:buNone/>
            </a:pPr>
            <a:r>
              <a:rPr b="0" i="0" lang="en-CA">
                <a:solidFill>
                  <a:srgbClr val="3C3C3C"/>
                </a:solidFill>
                <a:latin typeface="Roboto"/>
                <a:ea typeface="Roboto"/>
                <a:cs typeface="Roboto"/>
                <a:sym typeface="Roboto"/>
              </a:rPr>
              <a:t>The other </a:t>
            </a:r>
            <a:r>
              <a:rPr b="0" i="0" lang="en-CA">
                <a:solidFill>
                  <a:srgbClr val="D1D5DB"/>
                </a:solidFill>
                <a:latin typeface="Arial"/>
                <a:ea typeface="Arial"/>
                <a:cs typeface="Arial"/>
                <a:sym typeface="Arial"/>
              </a:rPr>
              <a:t>uses some hints, like a sentence, to make a specific kind of image. Just pretty much what midjourney does.</a:t>
            </a:r>
            <a:endParaRPr/>
          </a:p>
        </p:txBody>
      </p:sp>
      <p:sp>
        <p:nvSpPr>
          <p:cNvPr id="120" name="Google Shape;12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CA">
                <a:solidFill>
                  <a:srgbClr val="D1D5DB"/>
                </a:solidFill>
                <a:latin typeface="Arial"/>
                <a:ea typeface="Arial"/>
                <a:cs typeface="Arial"/>
                <a:sym typeface="Arial"/>
              </a:rPr>
              <a:t>This idea is pretty new. It started around 2015, and it really took off in the last few years. Now, it's a hot topic because it can do some amazing things.</a:t>
            </a:r>
            <a:endParaRPr/>
          </a:p>
        </p:txBody>
      </p:sp>
      <p:sp>
        <p:nvSpPr>
          <p:cNvPr id="129" name="Google Shape;12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CA">
                <a:solidFill>
                  <a:srgbClr val="D1D5DB"/>
                </a:solidFill>
                <a:latin typeface="Arial"/>
                <a:ea typeface="Arial"/>
                <a:cs typeface="Arial"/>
                <a:sym typeface="Arial"/>
              </a:rPr>
              <a:t>So, how does it work? Imagine it like a puzzle. First, we mix up the puzzle pieces – that's adding noise, right, which we called as forward process Then, the DDPM is like someone who's really good at puzzles. It puts the pieces back together to make a clear picture with the help of our well-trained neural networks. This is the reverse process.</a:t>
            </a:r>
            <a:endParaRPr/>
          </a:p>
        </p:txBody>
      </p:sp>
      <p:sp>
        <p:nvSpPr>
          <p:cNvPr id="147" name="Google Shape;1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Now lets focus on the reverse process first. Between every two pictures there is a module called denoise where we subtract something to get a picture with less noise. </a:t>
            </a:r>
            <a:r>
              <a:rPr b="0" i="0" lang="en-CA">
                <a:solidFill>
                  <a:srgbClr val="D1D5DB"/>
                </a:solidFill>
                <a:latin typeface="Arial"/>
                <a:ea typeface="Arial"/>
                <a:cs typeface="Arial"/>
                <a:sym typeface="Arial"/>
              </a:rPr>
              <a:t>By doing this over and over, we end up with a nice, clear picture. N</a:t>
            </a:r>
            <a:r>
              <a:rPr lang="en-CA"/>
              <a:t>otice that every iterations has a related step number. And surprisingly, it start from 1000 then reduces to 1. But for now, you just need to know larger number represents more noise, where step 1 gives the clearest picture.</a:t>
            </a:r>
            <a:endParaRPr/>
          </a:p>
        </p:txBody>
      </p:sp>
      <p:sp>
        <p:nvSpPr>
          <p:cNvPr id="157" name="Google Shape;1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CA">
                <a:solidFill>
                  <a:srgbClr val="D1D5DB"/>
                </a:solidFill>
                <a:latin typeface="Arial"/>
                <a:ea typeface="Arial"/>
                <a:cs typeface="Arial"/>
                <a:sym typeface="Arial"/>
              </a:rPr>
              <a:t>For better understanding, there's a famous quote from Michelangelo, a great artist, said that when he looked at a block of marble, he saw the sculpture inside it. He just had to remove the extra marble to reveal it. DDPMs are similar – they find the hidden picture in the noise.</a:t>
            </a:r>
            <a:endParaRPr/>
          </a:p>
          <a:p>
            <a:pPr indent="0" lvl="0" marL="0" rtl="0" algn="l">
              <a:spcBef>
                <a:spcPts val="0"/>
              </a:spcBef>
              <a:spcAft>
                <a:spcPts val="0"/>
              </a:spcAft>
              <a:buNone/>
            </a:pPr>
            <a:r>
              <a:rPr lang="en-CA"/>
              <a:t>And here comes the question, think about that how can our neural network know whether the output is correct or not?</a:t>
            </a:r>
            <a:endParaRPr/>
          </a:p>
        </p:txBody>
      </p:sp>
      <p:sp>
        <p:nvSpPr>
          <p:cNvPr id="167" name="Google Shape;16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Before answering that question, we would zoom in the forward process for now. It keeps adding noise with a Markov chain where the distribution at a particular time step only depends on the sample from the immediately previous step and no model is involved. Again, we notice that the step number here 1 is the original clearest picture and higher steps means more noise. In this case, after 1000 rounds, we finished the forward process.</a:t>
            </a:r>
            <a:endParaRPr/>
          </a:p>
        </p:txBody>
      </p:sp>
      <p:sp>
        <p:nvSpPr>
          <p:cNvPr id="176" name="Google Shape;17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Now let’s connect this slide to our reverse learning process and answer the previous question on how we know whether the output is correct or not?</a:t>
            </a:r>
            <a:endParaRPr/>
          </a:p>
          <a:p>
            <a:pPr indent="0" lvl="0" marL="0" rtl="0" algn="l">
              <a:spcBef>
                <a:spcPts val="0"/>
              </a:spcBef>
              <a:spcAft>
                <a:spcPts val="0"/>
              </a:spcAft>
              <a:buNone/>
            </a:pPr>
            <a:r>
              <a:rPr lang="en-CA"/>
              <a:t>Once we done the forward process, we also have collected plenty of training sets just like the box showing here. Our picture and the corresponding step number would be the input and the red box will be the output. After doing enough training, our neural network model can then tell whether we got the expected output or not.</a:t>
            </a:r>
            <a:endParaRPr/>
          </a:p>
        </p:txBody>
      </p:sp>
      <p:sp>
        <p:nvSpPr>
          <p:cNvPr id="186" name="Google Shape;18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a714c5d01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2a714c5d0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02" name="Google Shape;202;g2a714c5d0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a714c5d016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2a714c5d016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2a714c5d016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a714c5d016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2a714c5d016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a:t>
            </a:r>
            <a:endParaRPr/>
          </a:p>
        </p:txBody>
      </p:sp>
      <p:sp>
        <p:nvSpPr>
          <p:cNvPr id="222" name="Google Shape;222;g2a714c5d016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a714c5d016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2a714c5d016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2a714c5d016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63fc59b3c6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263fc59b3c6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CA" sz="1100">
                <a:latin typeface="Arial"/>
                <a:ea typeface="Arial"/>
                <a:cs typeface="Arial"/>
                <a:sym typeface="Arial"/>
              </a:rPr>
              <a:t>Now, let's dive into the math part and start with some basic notation. first, we will define the object as x with a number t as a subscript, this number will determine at which timestep we are, so x0 refers to the original object, and as time passes, we add more and more noise, this number will increase. with sufficient timestep, the object will follow an isotropic Gaussian, we call it x capital T, which is the object output in our final step. Next, we will define two functions q and p that describe forward and reverse diffusion process.</a:t>
            </a:r>
            <a:endParaRPr/>
          </a:p>
        </p:txBody>
      </p:sp>
      <p:sp>
        <p:nvSpPr>
          <p:cNvPr id="242" name="Google Shape;242;g263fc59b3c6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63fc59b3c6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263fc59b3c6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q xt given xt-1 correspond to the forward process, it takes in an object and return an object with a little bit more noise added, so xt-1 goes in and out comes with xt. And we define the q function as a distribution shown on the screen, a normal distribution that outputs xt with variance beta t ranging between zero and one, and the mean of this normal distribution is xt-1 times the scaling factor square root of 1 -  beta t.  The reason of having this scaling factor is to avoid the variance exploding, if we do not scale x before adding noise, </a:t>
            </a:r>
            <a:r>
              <a:rPr lang="en-CA" sz="1150">
                <a:solidFill>
                  <a:srgbClr val="0C0D0E"/>
                </a:solidFill>
                <a:highlight>
                  <a:srgbClr val="FFFFFF"/>
                </a:highlight>
                <a:latin typeface="Arial"/>
                <a:ea typeface="Arial"/>
                <a:cs typeface="Arial"/>
                <a:sym typeface="Arial"/>
              </a:rPr>
              <a:t>all the noise will add up to increase the overall variance.</a:t>
            </a:r>
            <a:endParaRPr sz="1150">
              <a:solidFill>
                <a:srgbClr val="0C0D0E"/>
              </a:solidFill>
              <a:highlight>
                <a:srgbClr val="FFFFFF"/>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252" name="Google Shape;252;g263fc59b3c6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63fc59b3c6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263fc59b3c6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CA" sz="1100">
                <a:latin typeface="Arial"/>
                <a:ea typeface="Arial"/>
                <a:cs typeface="Arial"/>
                <a:sym typeface="Arial"/>
              </a:rPr>
              <a:t>the second function p is for the reverse process, p takes in an object with more noise and produces a less noise object by using a neural network. we also express this p function as a normal distribution with mean mu theta and variance sigma theta. So in this case, we will have a neural network </a:t>
            </a:r>
            <a:r>
              <a:rPr lang="en-CA" sz="1100">
                <a:latin typeface="Arial"/>
                <a:ea typeface="Arial"/>
                <a:cs typeface="Arial"/>
                <a:sym typeface="Arial"/>
              </a:rPr>
              <a:t>with parameter theta to approximate the distribution p which we can sample from to get xt-1</a:t>
            </a:r>
            <a:r>
              <a:rPr lang="en-CA" sz="1100">
                <a:latin typeface="Arial"/>
                <a:ea typeface="Arial"/>
                <a:cs typeface="Arial"/>
                <a:sym typeface="Arial"/>
              </a:rPr>
              <a:t>. In this presentation, we will not focus on the structure of the neural network, but on the math part of how to optimize the diffusion model. In order to doing that, we need to train our neural network by doing gradient descent on the loss function of diffusion model.</a:t>
            </a:r>
            <a:endParaRPr/>
          </a:p>
        </p:txBody>
      </p:sp>
      <p:sp>
        <p:nvSpPr>
          <p:cNvPr id="266" name="Google Shape;266;g263fc59b3c6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63fc59b3c6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263fc59b3c6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CA" sz="1100">
                <a:latin typeface="Arial"/>
                <a:ea typeface="Arial"/>
                <a:cs typeface="Arial"/>
                <a:sym typeface="Arial"/>
              </a:rPr>
              <a:t>The next problem comes with what is the loss function. We need to do the maximum likelihood estimation to find that. But there is a problem, the prior probability of x0 is not computable because it depends on other timestep objects x1 to x capital T, and we don't know their joint probability distribution.</a:t>
            </a:r>
            <a:endParaRPr/>
          </a:p>
        </p:txBody>
      </p:sp>
      <p:sp>
        <p:nvSpPr>
          <p:cNvPr id="280" name="Google Shape;280;g263fc59b3c6_0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63fc59b3c6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263fc59b3c6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CA" sz="1100">
                <a:latin typeface="Arial"/>
                <a:ea typeface="Arial"/>
                <a:cs typeface="Arial"/>
                <a:sym typeface="Arial"/>
              </a:rPr>
              <a:t>As a solution, we can compute its lower bound  Here, we called it the Evidence Lower Bound,  Evidence in this case is the log-likelihood of the observed data x0, and the Evidence lower bound is always smaller than the evidence, which means if we maximize the Evidence lower bound, the log-likelihood will also increase. Therefore, maximizing the </a:t>
            </a:r>
            <a:r>
              <a:rPr lang="en-CA" sz="1100">
                <a:latin typeface="Arial"/>
                <a:ea typeface="Arial"/>
                <a:cs typeface="Arial"/>
                <a:sym typeface="Arial"/>
              </a:rPr>
              <a:t>Evidence Lower Bound </a:t>
            </a:r>
            <a:r>
              <a:rPr lang="en-CA" sz="1100">
                <a:latin typeface="Arial"/>
                <a:ea typeface="Arial"/>
                <a:cs typeface="Arial"/>
                <a:sym typeface="Arial"/>
              </a:rPr>
              <a:t>becomes a proxy objective to optimize the diffusion model. Now, after some derivation, we get a Evidence Lower Bound here, the upper part is reverse process, and lower is forward process. And, to calculate this whole term, we need to do further derivation.</a:t>
            </a:r>
            <a:endParaRPr/>
          </a:p>
        </p:txBody>
      </p:sp>
      <p:sp>
        <p:nvSpPr>
          <p:cNvPr id="291" name="Google Shape;291;g263fc59b3c6_0_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63fc59b3c6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263fc59b3c6_0_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We can see we derive it into three terms, each term is computed of at most one random variable at a time. This formulation has an elegant interpretation, we will go through each individual term one by one.</a:t>
            </a:r>
            <a:endParaRPr/>
          </a:p>
        </p:txBody>
      </p:sp>
      <p:sp>
        <p:nvSpPr>
          <p:cNvPr id="301" name="Google Shape;301;g263fc59b3c6_0_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63fc59b3c6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263fc59b3c6_0_1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the first term L1 we call it Reconstruction term, it predicts the log probability of the original data sample given the first-step noised object. It can be approximated by using a Monte Carlo estimate. For example, suppose objects are images, we know that, in practice, the image pixel value is the intensity of different color components, so we assume that each color component is divided into 256 bins, and we can compute this log probability of landing in the correct bin. </a:t>
            </a:r>
            <a:endParaRPr/>
          </a:p>
        </p:txBody>
      </p:sp>
      <p:sp>
        <p:nvSpPr>
          <p:cNvPr id="311" name="Google Shape;311;g263fc59b3c6_0_1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63fc59b3c6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263fc59b3c6_0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The third term Lt+1, the prior matching term. This term is measured by KL-divergence, it compare the difference between two distribution, if these two distributions are the same, the KL-divergence is equal to zero, on the other hand, if there is a big difference between two distributions, this KL-divergence will be a large positive number. so in this case, Lt+1 represents how close the distribution between the final noised object is to the standard Gaussian noise. we already know the p x capital T is a standard Gaussian noise, and question come with how to compute the q x capital T given by x0</a:t>
            </a:r>
            <a:endParaRPr/>
          </a:p>
        </p:txBody>
      </p:sp>
      <p:sp>
        <p:nvSpPr>
          <p:cNvPr id="321" name="Google Shape;321;g263fc59b3c6_0_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63fc59b3c6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263fc59b3c6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Recall the forward process q function, it describes one forward step of adding noise. T</a:t>
            </a:r>
            <a:r>
              <a:rPr lang="en-CA" sz="1100">
                <a:latin typeface="Arial"/>
                <a:ea typeface="Arial"/>
                <a:cs typeface="Arial"/>
                <a:sym typeface="Arial"/>
              </a:rPr>
              <a:t>o get the final noised object x capital T from the original object x0,</a:t>
            </a:r>
            <a:r>
              <a:rPr lang="en-CA" sz="1100">
                <a:latin typeface="Arial"/>
                <a:ea typeface="Arial"/>
                <a:cs typeface="Arial"/>
                <a:sym typeface="Arial"/>
              </a:rPr>
              <a:t> we need to add T iteration of noise, that is repeat q function T times. There is an easier way to do that in one step, and w</a:t>
            </a:r>
            <a:r>
              <a:rPr lang="en-CA" sz="1100">
                <a:latin typeface="Arial"/>
                <a:ea typeface="Arial"/>
                <a:cs typeface="Arial"/>
                <a:sym typeface="Arial"/>
              </a:rPr>
              <a:t>e</a:t>
            </a:r>
            <a:r>
              <a:rPr lang="en-CA" sz="1100">
                <a:latin typeface="Arial"/>
                <a:ea typeface="Arial"/>
                <a:cs typeface="Arial"/>
                <a:sym typeface="Arial"/>
              </a:rPr>
              <a:t> need to define a little more notations to achieve that. we will define alpha t as equal to 1-beta t and define the cumulative product of alphas from all timesteps, which is just multiplying all alphas together. Ok, then we can rewrite the forward diffusion process in terms of alphas.</a:t>
            </a:r>
            <a:endParaRPr/>
          </a:p>
        </p:txBody>
      </p:sp>
      <p:sp>
        <p:nvSpPr>
          <p:cNvPr id="331" name="Google Shape;331;g263fc59b3c6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63fc59b3c6_0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263fc59b3c6_0_1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Next, we can sample xt from this distribution, to do that, we apply the reparameterization trick and get a formula of xt in terms of xt-1 and noise epsilon. The Epsilon is the white noise that sampled from a standard normal distribution with mean zero and variance 1. Then, we can extend the earlier timestep xt-2 by plugin to xt-1 using the same formula, and repeat this step by t-3, t-4, and so on until t equals zero. So finally we get a formula of xt given x0, and we can rewrite the product of all alphas to the cumulative alphas to shorten the formula. Therefore we can get the distribution q(xt|x0) at any timestep t. Then we calculate the  Lt+1 term.</a:t>
            </a:r>
            <a:endParaRPr/>
          </a:p>
        </p:txBody>
      </p:sp>
      <p:sp>
        <p:nvSpPr>
          <p:cNvPr id="343" name="Google Shape;343;g263fc59b3c6_0_1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63fc59b3c6_0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263fc59b3c6_0_1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Now, take a look at the second term Lt, the Denoising matching term, that is the most important term we need to focus on. We use a neural network to learn the reverse diffusion process pθ(xt−1|xt) to approximate the ground-truth denoising process q(xt−1|xt, x0). According to the KL-divergence properties, this term is minimized when the two distributions match as closely as possible. The problem comes with this term is how to calculate q(xt−1|xt, x0).</a:t>
            </a:r>
            <a:endParaRPr/>
          </a:p>
        </p:txBody>
      </p:sp>
      <p:sp>
        <p:nvSpPr>
          <p:cNvPr id="356" name="Google Shape;356;g263fc59b3c6_0_1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63fc59b3c6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263fc59b3c6_0_1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We can get this distribution by using the Bayes rule. After derivation, we get this normal distribution with mean and variance shown on screen. we can see the variance here is irrelevant to object x, but alphas, we know that alphas are fixed value for each timestep, so the </a:t>
            </a:r>
            <a:r>
              <a:rPr lang="en-CA" sz="1100">
                <a:latin typeface="Arial"/>
                <a:ea typeface="Arial"/>
                <a:cs typeface="Arial"/>
                <a:sym typeface="Arial"/>
              </a:rPr>
              <a:t>variance</a:t>
            </a:r>
            <a:r>
              <a:rPr lang="en-CA" sz="1100">
                <a:latin typeface="Arial"/>
                <a:ea typeface="Arial"/>
                <a:cs typeface="Arial"/>
                <a:sym typeface="Arial"/>
              </a:rPr>
              <a:t> of ground-truth denoising distribution are also fixed for each timestep t</a:t>
            </a:r>
            <a:endParaRPr/>
          </a:p>
        </p:txBody>
      </p:sp>
      <p:sp>
        <p:nvSpPr>
          <p:cNvPr id="366" name="Google Shape;366;g263fc59b3c6_0_1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63fc59b3c6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263fc59b3c6_0_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So we only focus on mean prediction in our neural network. Therefore, we decided to use a simple mean squared error between the actual mean and predicted mean of  </a:t>
            </a:r>
            <a:r>
              <a:rPr lang="en-CA" sz="1100">
                <a:latin typeface="Arial"/>
                <a:ea typeface="Arial"/>
                <a:cs typeface="Arial"/>
                <a:sym typeface="Arial"/>
              </a:rPr>
              <a:t>denoising process as our loss function. and we finally can do gradient descent with it on our neural network, but this loss function is not simple yet, we can do further derivation to simplify it. </a:t>
            </a:r>
            <a:endParaRPr sz="1100">
              <a:latin typeface="Arial"/>
              <a:ea typeface="Arial"/>
              <a:cs typeface="Arial"/>
              <a:sym typeface="Arial"/>
            </a:endParaRPr>
          </a:p>
          <a:p>
            <a:pPr indent="0" lvl="0" marL="0" rtl="0" algn="l">
              <a:lnSpc>
                <a:spcPct val="115000"/>
              </a:lnSpc>
              <a:spcBef>
                <a:spcPts val="0"/>
              </a:spcBef>
              <a:spcAft>
                <a:spcPts val="0"/>
              </a:spcAft>
              <a:buSzPts val="1100"/>
              <a:buNone/>
            </a:pPr>
            <a:r>
              <a:t/>
            </a:r>
            <a:endParaRPr/>
          </a:p>
        </p:txBody>
      </p:sp>
      <p:sp>
        <p:nvSpPr>
          <p:cNvPr id="376" name="Google Shape;376;g263fc59b3c6_0_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63fc59b3c6_0_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263fc59b3c6_0_2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Recall the function of xt given x0 and noise, we can rewrite this to a formula of x0 in terms of xt and noise, plug in this formula into the mean of ground truth </a:t>
            </a:r>
            <a:r>
              <a:rPr lang="en-CA" sz="1100">
                <a:latin typeface="Arial"/>
                <a:ea typeface="Arial"/>
                <a:cs typeface="Arial"/>
                <a:sym typeface="Arial"/>
              </a:rPr>
              <a:t>denoising diffusion distribution we just derived</a:t>
            </a:r>
            <a:r>
              <a:rPr lang="en-CA" sz="1100">
                <a:latin typeface="Arial"/>
                <a:ea typeface="Arial"/>
                <a:cs typeface="Arial"/>
                <a:sym typeface="Arial"/>
              </a:rPr>
              <a:t>, we can cancel out the xt-1 term and the mean of this distribution only relate to current xt and the noise epsilon. Then we can also write the predicted mean in this form.</a:t>
            </a:r>
            <a:endParaRPr/>
          </a:p>
        </p:txBody>
      </p:sp>
      <p:sp>
        <p:nvSpPr>
          <p:cNvPr id="386" name="Google Shape;386;g263fc59b3c6_0_2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63fc59b3c6_0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263fc59b3c6_0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Also plugin these two mean values to the loss function, we can get a simple loss function only related to noise. So we can use our network only to predict the noise epsilon and the loss function is the mean squared error between the actual noise and predicted noise. </a:t>
            </a:r>
            <a:endParaRPr/>
          </a:p>
        </p:txBody>
      </p:sp>
      <p:sp>
        <p:nvSpPr>
          <p:cNvPr id="400" name="Google Shape;400;g263fc59b3c6_0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63fc59b3c6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263fc59b3c6_0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CA" sz="1100">
                <a:latin typeface="Arial"/>
                <a:ea typeface="Arial"/>
                <a:cs typeface="Arial"/>
                <a:sym typeface="Arial"/>
              </a:rPr>
              <a:t>After this heavy math derivation, finally, we are done, let's summarize what we learned, diffusion models are generative models with two processes, forward and reverse process. In the forward step, we gradually add noise to an object over a lot of timesteps until the object turns into a complete noise. And in the reverse process, we denoise the object by using a neural network. To train the neural network, we need to do gradient descent on the loss function of the diffusion model. To find the loss function, we apply the maximum likelihood estimation on the prior probability of the original object, we found this value is uncomputable, so we turn into a proxy objective which is the evidence lower bound. To do derivation on that, we get a loss function that measures the difference between the predicted mean and ground truth mean of the denoising step. To do further reformulation, we get a loss function that only predicts the noise. </a:t>
            </a:r>
            <a:endParaRPr/>
          </a:p>
        </p:txBody>
      </p:sp>
      <p:sp>
        <p:nvSpPr>
          <p:cNvPr id="411" name="Google Shape;411;g263fc59b3c6_0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2"/>
          <p:cNvSpPr/>
          <p:nvPr>
            <p:ph idx="2" type="pic"/>
          </p:nvPr>
        </p:nvSpPr>
        <p:spPr>
          <a:xfrm>
            <a:off x="5183188" y="987425"/>
            <a:ext cx="6172200" cy="4873625"/>
          </a:xfrm>
          <a:prstGeom prst="rect">
            <a:avLst/>
          </a:prstGeom>
          <a:noFill/>
          <a:ln>
            <a:noFill/>
          </a:ln>
        </p:spPr>
      </p:sp>
      <p:sp>
        <p:nvSpPr>
          <p:cNvPr id="68" name="Google Shape;68;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3" name="Google Shape;9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87" name="Google Shape;8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88" name="Google Shape;8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89" name="Google Shape;8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40.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24.png"/><Relationship Id="rId6"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38.png"/><Relationship Id="rId5"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9.png"/><Relationship Id="rId5" Type="http://schemas.openxmlformats.org/officeDocument/2006/relationships/image" Target="../media/image34.png"/><Relationship Id="rId6"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7.png"/><Relationship Id="rId4" Type="http://schemas.openxmlformats.org/officeDocument/2006/relationships/image" Target="../media/image30.png"/><Relationship Id="rId5" Type="http://schemas.openxmlformats.org/officeDocument/2006/relationships/image" Target="../media/image35.png"/><Relationship Id="rId6"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
          <p:cNvSpPr/>
          <p:nvPr/>
        </p:nvSpPr>
        <p:spPr>
          <a:xfrm>
            <a:off x="0" y="0"/>
            <a:ext cx="12188952"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Complex maths formulae on a blackboard" id="102" name="Google Shape;102;p1"/>
          <p:cNvPicPr preferRelativeResize="0"/>
          <p:nvPr/>
        </p:nvPicPr>
        <p:blipFill rotWithShape="1">
          <a:blip r:embed="rId3">
            <a:alphaModFix amt="50000"/>
          </a:blip>
          <a:srcRect b="6079" l="0" r="-1" t="16846"/>
          <a:stretch/>
        </p:blipFill>
        <p:spPr>
          <a:xfrm>
            <a:off x="20" y="10"/>
            <a:ext cx="12188930" cy="6857990"/>
          </a:xfrm>
          <a:prstGeom prst="rect">
            <a:avLst/>
          </a:prstGeom>
          <a:noFill/>
          <a:ln>
            <a:noFill/>
          </a:ln>
        </p:spPr>
      </p:pic>
      <p:sp>
        <p:nvSpPr>
          <p:cNvPr id="103" name="Google Shape;103;p1"/>
          <p:cNvSpPr txBox="1"/>
          <p:nvPr>
            <p:ph type="ctrTitle"/>
          </p:nvPr>
        </p:nvSpPr>
        <p:spPr>
          <a:xfrm>
            <a:off x="1437000" y="-12"/>
            <a:ext cx="9144000" cy="30633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600"/>
              <a:buFont typeface="Calibri"/>
              <a:buNone/>
            </a:pPr>
            <a:r>
              <a:rPr lang="en-CA" sz="6600">
                <a:solidFill>
                  <a:schemeClr val="lt1"/>
                </a:solidFill>
              </a:rPr>
              <a:t>Introduction to DDPM</a:t>
            </a:r>
            <a:endParaRPr/>
          </a:p>
        </p:txBody>
      </p:sp>
      <p:sp>
        <p:nvSpPr>
          <p:cNvPr id="104" name="Google Shape;104;p1"/>
          <p:cNvSpPr txBox="1"/>
          <p:nvPr>
            <p:ph idx="1" type="subTitle"/>
          </p:nvPr>
        </p:nvSpPr>
        <p:spPr>
          <a:xfrm>
            <a:off x="1522473" y="3425007"/>
            <a:ext cx="9144000" cy="15363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b="0" i="0" lang="en-CA">
                <a:solidFill>
                  <a:schemeClr val="lt1"/>
                </a:solidFill>
                <a:latin typeface="Arial"/>
                <a:ea typeface="Arial"/>
                <a:cs typeface="Arial"/>
                <a:sym typeface="Arial"/>
              </a:rPr>
              <a:t>Denoising Diffusion Probabilistic Models</a:t>
            </a:r>
            <a:endParaRPr>
              <a:solidFill>
                <a:schemeClr val="lt1"/>
              </a:solidFill>
            </a:endParaRPr>
          </a:p>
        </p:txBody>
      </p:sp>
      <p:sp>
        <p:nvSpPr>
          <p:cNvPr id="105" name="Google Shape;105;p1"/>
          <p:cNvSpPr/>
          <p:nvPr/>
        </p:nvSpPr>
        <p:spPr>
          <a:xfrm>
            <a:off x="3974206" y="4368623"/>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4901"/>
            </a:srgbClr>
          </a:solidFill>
          <a:ln cap="rnd" cmpd="sng" w="44450">
            <a:solidFill>
              <a:schemeClr val="lt1">
                <a:alpha val="74901"/>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1"/>
          <p:cNvSpPr txBox="1"/>
          <p:nvPr>
            <p:ph idx="1" type="subTitle"/>
          </p:nvPr>
        </p:nvSpPr>
        <p:spPr>
          <a:xfrm>
            <a:off x="7666848" y="5569507"/>
            <a:ext cx="9144000" cy="1536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None/>
            </a:pPr>
            <a:r>
              <a:rPr lang="en-CA" sz="1800">
                <a:solidFill>
                  <a:schemeClr val="lt1"/>
                </a:solidFill>
              </a:rPr>
              <a:t>Group 3</a:t>
            </a:r>
            <a:endParaRPr sz="1800">
              <a:solidFill>
                <a:schemeClr val="lt1"/>
              </a:solidFill>
            </a:endParaRPr>
          </a:p>
          <a:p>
            <a:pPr indent="0" lvl="0" marL="0" rtl="0" algn="l">
              <a:lnSpc>
                <a:spcPct val="100000"/>
              </a:lnSpc>
              <a:spcBef>
                <a:spcPts val="0"/>
              </a:spcBef>
              <a:spcAft>
                <a:spcPts val="0"/>
              </a:spcAft>
              <a:buClr>
                <a:schemeClr val="dk1"/>
              </a:buClr>
              <a:buSzPts val="1100"/>
              <a:buNone/>
            </a:pPr>
            <a:r>
              <a:rPr lang="en-CA" sz="1800">
                <a:solidFill>
                  <a:schemeClr val="lt1"/>
                </a:solidFill>
              </a:rPr>
              <a:t>Eric Cao,  Peihua Jin,</a:t>
            </a:r>
            <a:r>
              <a:rPr lang="en-CA" sz="3000">
                <a:solidFill>
                  <a:schemeClr val="lt1"/>
                </a:solidFill>
                <a:latin typeface="Arial"/>
                <a:ea typeface="Arial"/>
                <a:cs typeface="Arial"/>
                <a:sym typeface="Arial"/>
              </a:rPr>
              <a:t> </a:t>
            </a:r>
            <a:r>
              <a:rPr lang="en-CA" sz="1800">
                <a:solidFill>
                  <a:schemeClr val="lt1"/>
                </a:solidFill>
              </a:rPr>
              <a:t>Shengnan Song</a:t>
            </a:r>
            <a:endParaRPr sz="27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03"/>
                                        </p:tgtEl>
                                        <p:attrNameLst>
                                          <p:attrName>style.visibility</p:attrName>
                                        </p:attrNameLst>
                                      </p:cBhvr>
                                      <p:to>
                                        <p:strVal val="visible"/>
                                      </p:to>
                                    </p:set>
                                    <p:animEffect filter="fade" transition="in">
                                      <p:cBhvr>
                                        <p:cTn dur="700"/>
                                        <p:tgtEl>
                                          <p:spTgt spid="103"/>
                                        </p:tgtEl>
                                      </p:cBhvr>
                                    </p:animEffect>
                                  </p:childTnLst>
                                </p:cTn>
                              </p:par>
                              <p:par>
                                <p:cTn fill="hold" nodeType="withEffect" presetClass="entr" presetID="10" presetSubtype="0">
                                  <p:stCondLst>
                                    <p:cond delay="1500"/>
                                  </p:stCondLst>
                                  <p:childTnLst>
                                    <p:set>
                                      <p:cBhvr>
                                        <p:cTn dur="1" fill="hold">
                                          <p:stCondLst>
                                            <p:cond delay="0"/>
                                          </p:stCondLst>
                                        </p:cTn>
                                        <p:tgtEl>
                                          <p:spTgt spid="104">
                                            <p:txEl>
                                              <p:pRg end="0" st="0"/>
                                            </p:txEl>
                                          </p:spTgt>
                                        </p:tgtEl>
                                        <p:attrNameLst>
                                          <p:attrName>style.visibility</p:attrName>
                                        </p:attrNameLst>
                                      </p:cBhvr>
                                      <p:to>
                                        <p:strVal val="visible"/>
                                      </p:to>
                                    </p:set>
                                    <p:animEffect filter="fade" transition="in">
                                      <p:cBhvr>
                                        <p:cTn dur="700"/>
                                        <p:tgtEl>
                                          <p:spTgt spid="10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3" name="Google Shape;113;p2"/>
          <p:cNvSpPr txBox="1"/>
          <p:nvPr>
            <p:ph type="title"/>
          </p:nvPr>
        </p:nvSpPr>
        <p:spPr>
          <a:xfrm>
            <a:off x="6739128" y="642325"/>
            <a:ext cx="5006296" cy="14768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Calibri"/>
              <a:buNone/>
            </a:pPr>
            <a:r>
              <a:rPr lang="en-CA" sz="5000"/>
              <a:t>What Is Diffusion?</a:t>
            </a:r>
            <a:endParaRPr/>
          </a:p>
        </p:txBody>
      </p:sp>
      <p:pic>
        <p:nvPicPr>
          <p:cNvPr descr="A blue and green circles and a bottle&#10;&#10;Description automatically generated" id="114" name="Google Shape;114;p2"/>
          <p:cNvPicPr preferRelativeResize="0"/>
          <p:nvPr/>
        </p:nvPicPr>
        <p:blipFill rotWithShape="1">
          <a:blip r:embed="rId3">
            <a:alphaModFix/>
          </a:blip>
          <a:srcRect b="0" l="0" r="0" t="0"/>
          <a:stretch/>
        </p:blipFill>
        <p:spPr>
          <a:xfrm>
            <a:off x="630936" y="1404633"/>
            <a:ext cx="5458968" cy="4048734"/>
          </a:xfrm>
          <a:prstGeom prst="rect">
            <a:avLst/>
          </a:prstGeom>
          <a:noFill/>
          <a:ln>
            <a:noFill/>
          </a:ln>
        </p:spPr>
      </p:pic>
      <p:sp>
        <p:nvSpPr>
          <p:cNvPr id="115" name="Google Shape;115;p2"/>
          <p:cNvSpPr/>
          <p:nvPr/>
        </p:nvSpPr>
        <p:spPr>
          <a:xfrm>
            <a:off x="6739128" y="2372868"/>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6" name="Google Shape;116;p2"/>
          <p:cNvSpPr txBox="1"/>
          <p:nvPr>
            <p:ph idx="1" type="body"/>
          </p:nvPr>
        </p:nvSpPr>
        <p:spPr>
          <a:xfrm>
            <a:off x="6739128" y="2664886"/>
            <a:ext cx="4818888" cy="355078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b="0" i="0" lang="en-CA" sz="2200">
                <a:latin typeface="Roboto"/>
                <a:ea typeface="Roboto"/>
                <a:cs typeface="Roboto"/>
                <a:sym typeface="Roboto"/>
              </a:rPr>
              <a:t>In non-equilibrium statistical physics, the diffusion process refers to:</a:t>
            </a:r>
            <a:endParaRPr/>
          </a:p>
          <a:p>
            <a:pPr indent="-228600" lvl="0" marL="228600" rtl="0" algn="l">
              <a:lnSpc>
                <a:spcPct val="90000"/>
              </a:lnSpc>
              <a:spcBef>
                <a:spcPts val="1000"/>
              </a:spcBef>
              <a:spcAft>
                <a:spcPts val="0"/>
              </a:spcAft>
              <a:buClr>
                <a:schemeClr val="dk1"/>
              </a:buClr>
              <a:buSzPts val="2200"/>
              <a:buChar char="•"/>
            </a:pPr>
            <a:r>
              <a:rPr lang="en-CA" sz="2200">
                <a:latin typeface="Roboto"/>
                <a:ea typeface="Roboto"/>
                <a:cs typeface="Roboto"/>
                <a:sym typeface="Roboto"/>
              </a:rPr>
              <a:t>--</a:t>
            </a:r>
            <a:r>
              <a:rPr b="1" i="1" lang="en-CA" sz="2200">
                <a:latin typeface="Roboto"/>
                <a:ea typeface="Roboto"/>
                <a:cs typeface="Roboto"/>
                <a:sym typeface="Roboto"/>
              </a:rPr>
              <a:t>“The movement of particles or molecules from an area of high concentration to an area of low concentration, driven by a gradient in concentration.”</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3" name="Google Shape;12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CA" sz="5400"/>
              <a:t>What Are Diffusion Models?</a:t>
            </a:r>
            <a:endParaRPr/>
          </a:p>
        </p:txBody>
      </p:sp>
      <p:sp>
        <p:nvSpPr>
          <p:cNvPr id="124" name="Google Shape;124;p3"/>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5" name="Google Shape;125;p3"/>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b="0" i="0" lang="en-CA" sz="2200">
                <a:latin typeface="Roboto"/>
                <a:ea typeface="Roboto"/>
                <a:cs typeface="Roboto"/>
                <a:sym typeface="Roboto"/>
              </a:rPr>
              <a:t>In simple terms – </a:t>
            </a:r>
            <a:r>
              <a:rPr b="1" i="1" lang="en-CA" sz="2200">
                <a:latin typeface="Roboto"/>
                <a:ea typeface="Roboto"/>
                <a:cs typeface="Roboto"/>
                <a:sym typeface="Roboto"/>
              </a:rPr>
              <a:t>“Diffusion Models are a class of probabilistic generative models that turn noise to a representative data sample.”</a:t>
            </a:r>
            <a:endParaRPr/>
          </a:p>
          <a:p>
            <a:pPr indent="-514350" lvl="0" marL="514350" rtl="0" algn="l">
              <a:lnSpc>
                <a:spcPct val="90000"/>
              </a:lnSpc>
              <a:spcBef>
                <a:spcPts val="1000"/>
              </a:spcBef>
              <a:spcAft>
                <a:spcPts val="0"/>
              </a:spcAft>
              <a:buClr>
                <a:schemeClr val="dk1"/>
              </a:buClr>
              <a:buSzPts val="2200"/>
              <a:buAutoNum type="arabicPeriod"/>
            </a:pPr>
            <a:r>
              <a:rPr b="0" i="1" lang="en-CA" sz="2200">
                <a:latin typeface="Roboto"/>
                <a:ea typeface="Roboto"/>
                <a:cs typeface="Roboto"/>
                <a:sym typeface="Roboto"/>
              </a:rPr>
              <a:t>Unconditional image generation - </a:t>
            </a:r>
            <a:r>
              <a:rPr b="0" i="0" lang="en-CA" sz="2200">
                <a:latin typeface="Roboto"/>
                <a:ea typeface="Roboto"/>
                <a:cs typeface="Roboto"/>
                <a:sym typeface="Roboto"/>
              </a:rPr>
              <a:t>converts noise into any “random representative data sample.”</a:t>
            </a:r>
            <a:endParaRPr b="0" i="1" sz="2200">
              <a:latin typeface="Roboto"/>
              <a:ea typeface="Roboto"/>
              <a:cs typeface="Roboto"/>
              <a:sym typeface="Roboto"/>
            </a:endParaRPr>
          </a:p>
          <a:p>
            <a:pPr indent="-514350" lvl="0" marL="514350" rtl="0" algn="l">
              <a:lnSpc>
                <a:spcPct val="90000"/>
              </a:lnSpc>
              <a:spcBef>
                <a:spcPts val="1000"/>
              </a:spcBef>
              <a:spcAft>
                <a:spcPts val="0"/>
              </a:spcAft>
              <a:buClr>
                <a:schemeClr val="dk1"/>
              </a:buClr>
              <a:buSzPts val="2200"/>
              <a:buAutoNum type="arabicPeriod"/>
            </a:pPr>
            <a:r>
              <a:rPr b="0" i="1" lang="en-CA" sz="2200">
                <a:latin typeface="Roboto"/>
                <a:ea typeface="Roboto"/>
                <a:cs typeface="Roboto"/>
                <a:sym typeface="Roboto"/>
              </a:rPr>
              <a:t>Conditional image generation - </a:t>
            </a:r>
            <a:r>
              <a:rPr b="0" i="0" lang="en-CA" sz="2200">
                <a:latin typeface="Roboto"/>
                <a:ea typeface="Roboto"/>
                <a:cs typeface="Roboto"/>
                <a:sym typeface="Roboto"/>
              </a:rPr>
              <a:t>the model is provided additional information via text</a:t>
            </a:r>
            <a:endParaRPr b="1" i="1" sz="2200">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pic>
        <p:nvPicPr>
          <p:cNvPr id="131" name="Google Shape;131;p4"/>
          <p:cNvPicPr preferRelativeResize="0"/>
          <p:nvPr/>
        </p:nvPicPr>
        <p:blipFill rotWithShape="1">
          <a:blip r:embed="rId3">
            <a:alphaModFix/>
          </a:blip>
          <a:srcRect b="0" l="0" r="0" t="6250"/>
          <a:stretch/>
        </p:blipFill>
        <p:spPr>
          <a:xfrm>
            <a:off x="20" y="10"/>
            <a:ext cx="12191980" cy="6857990"/>
          </a:xfrm>
          <a:prstGeom prst="rect">
            <a:avLst/>
          </a:prstGeom>
          <a:noFill/>
          <a:ln>
            <a:noFill/>
          </a:ln>
        </p:spPr>
      </p:pic>
      <p:sp>
        <p:nvSpPr>
          <p:cNvPr id="132" name="Google Shape;132;p4"/>
          <p:cNvSpPr/>
          <p:nvPr/>
        </p:nvSpPr>
        <p:spPr>
          <a:xfrm>
            <a:off x="0" y="0"/>
            <a:ext cx="12192000" cy="6858000"/>
          </a:xfrm>
          <a:prstGeom prst="rect">
            <a:avLst/>
          </a:prstGeom>
          <a:gradFill>
            <a:gsLst>
              <a:gs pos="0">
                <a:srgbClr val="E7E6E6">
                  <a:alpha val="67843"/>
                </a:srgbClr>
              </a:gs>
              <a:gs pos="10000">
                <a:srgbClr val="E7E6E6">
                  <a:alpha val="67843"/>
                </a:srgbClr>
              </a:gs>
              <a:gs pos="85000">
                <a:srgbClr val="E7E6E6">
                  <a:alpha val="96862"/>
                </a:srgbClr>
              </a:gs>
              <a:gs pos="100000">
                <a:srgbClr val="E7E6E6">
                  <a:alpha val="9686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Roboto"/>
              <a:buNone/>
            </a:pPr>
            <a:r>
              <a:rPr i="0" lang="en-CA">
                <a:latin typeface="Roboto"/>
                <a:ea typeface="Roboto"/>
                <a:cs typeface="Roboto"/>
                <a:sym typeface="Roboto"/>
              </a:rPr>
              <a:t>A bit of history</a:t>
            </a:r>
            <a:endParaRPr/>
          </a:p>
        </p:txBody>
      </p:sp>
      <p:grpSp>
        <p:nvGrpSpPr>
          <p:cNvPr id="134" name="Google Shape;134;p4"/>
          <p:cNvGrpSpPr/>
          <p:nvPr/>
        </p:nvGrpSpPr>
        <p:grpSpPr>
          <a:xfrm>
            <a:off x="838200" y="1827749"/>
            <a:ext cx="10515600" cy="4347088"/>
            <a:chOff x="0" y="2124"/>
            <a:chExt cx="10515600" cy="4347088"/>
          </a:xfrm>
        </p:grpSpPr>
        <p:cxnSp>
          <p:nvCxnSpPr>
            <p:cNvPr id="135" name="Google Shape;135;p4"/>
            <p:cNvCxnSpPr/>
            <p:nvPr/>
          </p:nvCxnSpPr>
          <p:spPr>
            <a:xfrm>
              <a:off x="0" y="2124"/>
              <a:ext cx="10515600" cy="0"/>
            </a:xfrm>
            <a:prstGeom prst="straightConnector1">
              <a:avLst/>
            </a:prstGeom>
            <a:solidFill>
              <a:schemeClr val="accent2"/>
            </a:solidFill>
            <a:ln cap="flat" cmpd="sng" w="12700">
              <a:solidFill>
                <a:schemeClr val="accent2"/>
              </a:solidFill>
              <a:prstDash val="solid"/>
              <a:miter lim="800000"/>
              <a:headEnd len="sm" w="sm" type="none"/>
              <a:tailEnd len="sm" w="sm" type="none"/>
            </a:ln>
          </p:spPr>
        </p:cxnSp>
        <p:sp>
          <p:nvSpPr>
            <p:cNvPr id="136" name="Google Shape;136;p4"/>
            <p:cNvSpPr/>
            <p:nvPr/>
          </p:nvSpPr>
          <p:spPr>
            <a:xfrm>
              <a:off x="0" y="2124"/>
              <a:ext cx="10515600" cy="14490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txBox="1"/>
            <p:nvPr/>
          </p:nvSpPr>
          <p:spPr>
            <a:xfrm>
              <a:off x="0" y="2124"/>
              <a:ext cx="10515600" cy="1449029"/>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chemeClr val="dk1"/>
                </a:buClr>
                <a:buSzPts val="2200"/>
                <a:buFont typeface="Calibri"/>
                <a:buNone/>
              </a:pPr>
              <a:r>
                <a:rPr b="0" i="0" lang="en-CA" sz="2200" u="none" cap="none" strike="noStrike">
                  <a:solidFill>
                    <a:schemeClr val="dk1"/>
                  </a:solidFill>
                  <a:latin typeface="Calibri"/>
                  <a:ea typeface="Calibri"/>
                  <a:cs typeface="Calibri"/>
                  <a:sym typeface="Calibri"/>
                </a:rPr>
                <a:t>Diffusion models in deep learning were first introduced by Sohl-Dickstein et al. in the seminal 2015 paper “Deep Unsupervised Learning using Nonequilibrium Thermodynamics.”  Unfortunately, it remained behind the curtains for a while. </a:t>
              </a:r>
              <a:endParaRPr b="0" i="0" sz="2200" u="none" cap="none" strike="noStrike">
                <a:solidFill>
                  <a:schemeClr val="dk1"/>
                </a:solidFill>
                <a:latin typeface="Calibri"/>
                <a:ea typeface="Calibri"/>
                <a:cs typeface="Calibri"/>
                <a:sym typeface="Calibri"/>
              </a:endParaRPr>
            </a:p>
          </p:txBody>
        </p:sp>
        <p:cxnSp>
          <p:nvCxnSpPr>
            <p:cNvPr id="138" name="Google Shape;138;p4"/>
            <p:cNvCxnSpPr/>
            <p:nvPr/>
          </p:nvCxnSpPr>
          <p:spPr>
            <a:xfrm>
              <a:off x="0" y="1451154"/>
              <a:ext cx="10515600" cy="0"/>
            </a:xfrm>
            <a:prstGeom prst="straightConnector1">
              <a:avLst/>
            </a:prstGeom>
            <a:solidFill>
              <a:schemeClr val="accent2"/>
            </a:solidFill>
            <a:ln cap="flat" cmpd="sng" w="12700">
              <a:solidFill>
                <a:schemeClr val="accent2"/>
              </a:solidFill>
              <a:prstDash val="solid"/>
              <a:miter lim="800000"/>
              <a:headEnd len="sm" w="sm" type="none"/>
              <a:tailEnd len="sm" w="sm" type="none"/>
            </a:ln>
          </p:spPr>
        </p:cxnSp>
        <p:sp>
          <p:nvSpPr>
            <p:cNvPr id="139" name="Google Shape;139;p4"/>
            <p:cNvSpPr/>
            <p:nvPr/>
          </p:nvSpPr>
          <p:spPr>
            <a:xfrm>
              <a:off x="0" y="1451154"/>
              <a:ext cx="10515600" cy="14490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451154"/>
              <a:ext cx="10515600" cy="1449029"/>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chemeClr val="dk1"/>
                </a:buClr>
                <a:buSzPts val="2200"/>
                <a:buFont typeface="Calibri"/>
                <a:buNone/>
              </a:pPr>
              <a:r>
                <a:rPr b="0" i="0" lang="en-CA" sz="2200" u="none" cap="none" strike="noStrike">
                  <a:solidFill>
                    <a:schemeClr val="dk1"/>
                  </a:solidFill>
                  <a:latin typeface="Calibri"/>
                  <a:ea typeface="Calibri"/>
                  <a:cs typeface="Calibri"/>
                  <a:sym typeface="Calibri"/>
                </a:rPr>
                <a:t>But, in 2019, Song et al. published a paper, </a:t>
              </a:r>
              <a:r>
                <a:rPr b="0" i="1" lang="en-CA" sz="2200" u="none" cap="none" strike="noStrike">
                  <a:solidFill>
                    <a:schemeClr val="dk1"/>
                  </a:solidFill>
                  <a:latin typeface="Calibri"/>
                  <a:ea typeface="Calibri"/>
                  <a:cs typeface="Calibri"/>
                  <a:sym typeface="Calibri"/>
                </a:rPr>
                <a:t>“Generative Modeling by Estimating Gradients of the Data Distribution,”</a:t>
              </a:r>
              <a:r>
                <a:rPr b="0" i="0" lang="en-CA" sz="2200" u="none" cap="none" strike="noStrike">
                  <a:solidFill>
                    <a:schemeClr val="dk1"/>
                  </a:solidFill>
                  <a:latin typeface="Calibri"/>
                  <a:ea typeface="Calibri"/>
                  <a:cs typeface="Calibri"/>
                  <a:sym typeface="Calibri"/>
                </a:rPr>
                <a:t> using the same principle but a different approach. In 2020,  Ho et al. published the paper, now-popular </a:t>
              </a:r>
              <a:r>
                <a:rPr b="0" i="1" lang="en-CA" sz="2200" u="none" cap="none" strike="noStrike">
                  <a:solidFill>
                    <a:schemeClr val="dk1"/>
                  </a:solidFill>
                  <a:latin typeface="Calibri"/>
                  <a:ea typeface="Calibri"/>
                  <a:cs typeface="Calibri"/>
                  <a:sym typeface="Calibri"/>
                </a:rPr>
                <a:t>“Denoising Diffusion Probabilistic Models”</a:t>
              </a:r>
              <a:r>
                <a:rPr b="0" i="0" lang="en-CA" sz="2200" u="none" cap="none" strike="noStrike">
                  <a:solidFill>
                    <a:schemeClr val="dk1"/>
                  </a:solidFill>
                  <a:latin typeface="Calibri"/>
                  <a:ea typeface="Calibri"/>
                  <a:cs typeface="Calibri"/>
                  <a:sym typeface="Calibri"/>
                </a:rPr>
                <a:t> (DDPM for short). </a:t>
              </a:r>
              <a:endParaRPr b="0" i="0" sz="2200" u="none" cap="none" strike="noStrike">
                <a:solidFill>
                  <a:schemeClr val="dk1"/>
                </a:solidFill>
                <a:latin typeface="Calibri"/>
                <a:ea typeface="Calibri"/>
                <a:cs typeface="Calibri"/>
                <a:sym typeface="Calibri"/>
              </a:endParaRPr>
            </a:p>
          </p:txBody>
        </p:sp>
        <p:cxnSp>
          <p:nvCxnSpPr>
            <p:cNvPr id="141" name="Google Shape;141;p4"/>
            <p:cNvCxnSpPr/>
            <p:nvPr/>
          </p:nvCxnSpPr>
          <p:spPr>
            <a:xfrm>
              <a:off x="0" y="2900183"/>
              <a:ext cx="10515600" cy="0"/>
            </a:xfrm>
            <a:prstGeom prst="straightConnector1">
              <a:avLst/>
            </a:prstGeom>
            <a:solidFill>
              <a:schemeClr val="accent2"/>
            </a:solidFill>
            <a:ln cap="flat" cmpd="sng" w="12700">
              <a:solidFill>
                <a:schemeClr val="accent2"/>
              </a:solidFill>
              <a:prstDash val="solid"/>
              <a:miter lim="800000"/>
              <a:headEnd len="sm" w="sm" type="none"/>
              <a:tailEnd len="sm" w="sm" type="none"/>
            </a:ln>
          </p:spPr>
        </p:cxnSp>
        <p:sp>
          <p:nvSpPr>
            <p:cNvPr id="142" name="Google Shape;142;p4"/>
            <p:cNvSpPr/>
            <p:nvPr/>
          </p:nvSpPr>
          <p:spPr>
            <a:xfrm>
              <a:off x="0" y="2900183"/>
              <a:ext cx="10515600" cy="14490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txBox="1"/>
            <p:nvPr/>
          </p:nvSpPr>
          <p:spPr>
            <a:xfrm>
              <a:off x="0" y="2900183"/>
              <a:ext cx="10515600" cy="1449029"/>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chemeClr val="dk1"/>
                </a:buClr>
                <a:buSzPts val="2200"/>
                <a:buFont typeface="Calibri"/>
                <a:buNone/>
              </a:pPr>
              <a:r>
                <a:rPr b="0" i="0" lang="en-CA" sz="2200" u="none" cap="none" strike="noStrike">
                  <a:solidFill>
                    <a:schemeClr val="dk1"/>
                  </a:solidFill>
                  <a:latin typeface="Calibri"/>
                  <a:ea typeface="Calibri"/>
                  <a:cs typeface="Calibri"/>
                  <a:sym typeface="Calibri"/>
                </a:rPr>
                <a:t>After 2020, research in diffusion models took off 🚀. Much progress has been made in creating, training, and improving diffusion-based generative modeling in a relatively short time. </a:t>
              </a:r>
              <a:endParaRPr b="0" i="0" sz="2200" u="none" cap="none" strike="noStrike">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0" name="Google Shape;15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CA" sz="5400"/>
              <a:t>How It Works?</a:t>
            </a:r>
            <a:endParaRPr/>
          </a:p>
        </p:txBody>
      </p:sp>
      <p:sp>
        <p:nvSpPr>
          <p:cNvPr id="151" name="Google Shape;151;p5"/>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2" name="Google Shape;152;p5"/>
          <p:cNvSpPr txBox="1"/>
          <p:nvPr>
            <p:ph idx="1" type="body"/>
          </p:nvPr>
        </p:nvSpPr>
        <p:spPr>
          <a:xfrm>
            <a:off x="838200" y="1929384"/>
            <a:ext cx="10515600" cy="2171567"/>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lang="en-CA" sz="2200"/>
              <a:t>The diffusion method can be summarized as follows:</a:t>
            </a:r>
            <a:endParaRPr/>
          </a:p>
          <a:p>
            <a:pPr indent="0" lvl="0" marL="0" rtl="0" algn="l">
              <a:lnSpc>
                <a:spcPct val="90000"/>
              </a:lnSpc>
              <a:spcBef>
                <a:spcPts val="1000"/>
              </a:spcBef>
              <a:spcAft>
                <a:spcPts val="0"/>
              </a:spcAft>
              <a:buClr>
                <a:schemeClr val="dk1"/>
              </a:buClr>
              <a:buSzPct val="100000"/>
              <a:buNone/>
            </a:pPr>
            <a:r>
              <a:rPr b="1" i="1" lang="en-CA" sz="2200"/>
              <a:t>…systematically and slowly destroy the structure in a data distribution through an iterative forward diffusion process. We then learn a reverse diffusion process that restores structure in data, yielding a highly flexible and tractable generative model of the data. This approach allows us to rapidly learn, sample from, and evaluate probabilities in deep generative models …</a:t>
            </a:r>
            <a:endParaRPr i="1" sz="2200"/>
          </a:p>
          <a:p>
            <a:pPr indent="0" lvl="0" marL="0" rtl="0" algn="l">
              <a:lnSpc>
                <a:spcPct val="90000"/>
              </a:lnSpc>
              <a:spcBef>
                <a:spcPts val="1000"/>
              </a:spcBef>
              <a:spcAft>
                <a:spcPts val="0"/>
              </a:spcAft>
              <a:buClr>
                <a:schemeClr val="dk1"/>
              </a:buClr>
              <a:buSzPct val="100000"/>
              <a:buNone/>
            </a:pPr>
            <a:r>
              <a:rPr i="1" lang="en-CA" sz="2200"/>
              <a:t>– Deep Unsupervised Learning using Nonequilibrium Thermodynamics, 2015</a:t>
            </a:r>
            <a:endParaRPr sz="2200"/>
          </a:p>
          <a:p>
            <a:pPr indent="-99377" lvl="0" marL="228600" rtl="0" algn="l">
              <a:lnSpc>
                <a:spcPct val="90000"/>
              </a:lnSpc>
              <a:spcBef>
                <a:spcPts val="1000"/>
              </a:spcBef>
              <a:spcAft>
                <a:spcPts val="0"/>
              </a:spcAft>
              <a:buClr>
                <a:schemeClr val="dk1"/>
              </a:buClr>
              <a:buSzPct val="100000"/>
              <a:buNone/>
            </a:pPr>
            <a:r>
              <a:t/>
            </a:r>
            <a:endParaRPr sz="2200"/>
          </a:p>
        </p:txBody>
      </p:sp>
      <p:pic>
        <p:nvPicPr>
          <p:cNvPr descr="Several images of people in different poses&#10;&#10;Description automatically generated" id="153" name="Google Shape;153;p5"/>
          <p:cNvPicPr preferRelativeResize="0"/>
          <p:nvPr/>
        </p:nvPicPr>
        <p:blipFill rotWithShape="1">
          <a:blip r:embed="rId3">
            <a:alphaModFix/>
          </a:blip>
          <a:srcRect b="0" l="0" r="0" t="0"/>
          <a:stretch/>
        </p:blipFill>
        <p:spPr>
          <a:xfrm>
            <a:off x="0" y="4328160"/>
            <a:ext cx="12192000" cy="25298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0" name="Google Shape;160;p6"/>
          <p:cNvSpPr txBox="1"/>
          <p:nvPr>
            <p:ph type="title"/>
          </p:nvPr>
        </p:nvSpPr>
        <p:spPr>
          <a:xfrm>
            <a:off x="630936" y="639520"/>
            <a:ext cx="3429000" cy="171907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CA" sz="5400"/>
              <a:t>Reverse Process</a:t>
            </a:r>
            <a:endParaRPr sz="5400"/>
          </a:p>
        </p:txBody>
      </p:sp>
      <p:sp>
        <p:nvSpPr>
          <p:cNvPr id="161" name="Google Shape;161;p6"/>
          <p:cNvSpPr/>
          <p:nvPr/>
        </p:nvSpPr>
        <p:spPr>
          <a:xfrm>
            <a:off x="643278" y="2573756"/>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2" name="Google Shape;162;p6"/>
          <p:cNvSpPr txBox="1"/>
          <p:nvPr>
            <p:ph idx="1" type="body"/>
          </p:nvPr>
        </p:nvSpPr>
        <p:spPr>
          <a:xfrm>
            <a:off x="630935" y="2807208"/>
            <a:ext cx="3710245" cy="3410712"/>
          </a:xfrm>
          <a:prstGeom prst="rect">
            <a:avLst/>
          </a:prstGeom>
          <a:blipFill rotWithShape="1">
            <a:blip r:embed="rId3">
              <a:alphaModFix/>
            </a:blip>
            <a:stretch>
              <a:fillRect b="0" l="-1147" r="-8701" t="-2324"/>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CA"/>
              <a:t> </a:t>
            </a:r>
            <a:endParaRPr/>
          </a:p>
        </p:txBody>
      </p:sp>
      <p:pic>
        <p:nvPicPr>
          <p:cNvPr descr="A diagram of a cat" id="163" name="Google Shape;163;p6"/>
          <p:cNvPicPr preferRelativeResize="0"/>
          <p:nvPr/>
        </p:nvPicPr>
        <p:blipFill rotWithShape="1">
          <a:blip r:embed="rId4">
            <a:alphaModFix/>
          </a:blip>
          <a:srcRect b="0" l="0" r="0" t="0"/>
          <a:stretch/>
        </p:blipFill>
        <p:spPr>
          <a:xfrm>
            <a:off x="4654296" y="2056886"/>
            <a:ext cx="6903720" cy="274422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8" name="Shape 168"/>
        <p:cNvGrpSpPr/>
        <p:nvPr/>
      </p:nvGrpSpPr>
      <p:grpSpPr>
        <a:xfrm>
          <a:off x="0" y="0"/>
          <a:ext cx="0" cy="0"/>
          <a:chOff x="0" y="0"/>
          <a:chExt cx="0" cy="0"/>
        </a:xfrm>
      </p:grpSpPr>
      <p:sp>
        <p:nvSpPr>
          <p:cNvPr id="169" name="Google Shape;169;p7"/>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Sculpture of a head" id="170" name="Google Shape;170;p7"/>
          <p:cNvPicPr preferRelativeResize="0"/>
          <p:nvPr/>
        </p:nvPicPr>
        <p:blipFill rotWithShape="1">
          <a:blip r:embed="rId3">
            <a:alphaModFix amt="50000"/>
          </a:blip>
          <a:srcRect b="375" l="0" r="0" t="15356"/>
          <a:stretch/>
        </p:blipFill>
        <p:spPr>
          <a:xfrm>
            <a:off x="20" y="1"/>
            <a:ext cx="12191980" cy="6857999"/>
          </a:xfrm>
          <a:prstGeom prst="rect">
            <a:avLst/>
          </a:prstGeom>
          <a:noFill/>
          <a:ln>
            <a:noFill/>
          </a:ln>
        </p:spPr>
      </p:pic>
      <p:sp>
        <p:nvSpPr>
          <p:cNvPr id="171" name="Google Shape;171;p7"/>
          <p:cNvSpPr txBox="1"/>
          <p:nvPr>
            <p:ph type="title"/>
          </p:nvPr>
        </p:nvSpPr>
        <p:spPr>
          <a:xfrm>
            <a:off x="605346" y="1652838"/>
            <a:ext cx="5225157" cy="378917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3300"/>
              <a:buFont typeface="Calibri"/>
              <a:buNone/>
            </a:pPr>
            <a:r>
              <a:rPr b="0" i="0" lang="en-CA" sz="3300">
                <a:solidFill>
                  <a:srgbClr val="FFFFFF"/>
                </a:solidFill>
              </a:rPr>
              <a:t>“The sculpture is already complete within the marble block, before I start my work. It is already there, I just have to chisel away the superfluous material.”</a:t>
            </a:r>
            <a:br>
              <a:rPr b="0" i="0" lang="en-CA" sz="3300">
                <a:solidFill>
                  <a:srgbClr val="FFFFFF"/>
                </a:solidFill>
              </a:rPr>
            </a:br>
            <a:br>
              <a:rPr b="0" i="0" lang="en-CA" sz="3300">
                <a:solidFill>
                  <a:srgbClr val="FFFFFF"/>
                </a:solidFill>
              </a:rPr>
            </a:br>
            <a:r>
              <a:rPr b="0" i="0" lang="en-CA" sz="3300">
                <a:solidFill>
                  <a:srgbClr val="FFFFFF"/>
                </a:solidFill>
              </a:rPr>
              <a:t>― </a:t>
            </a:r>
            <a:r>
              <a:rPr b="1" i="0" lang="en-CA" sz="3300">
                <a:solidFill>
                  <a:srgbClr val="FFFFFF"/>
                </a:solidFill>
              </a:rPr>
              <a:t>Michelangelo</a:t>
            </a:r>
            <a:endParaRPr sz="3300">
              <a:solidFill>
                <a:srgbClr val="FFFFFF"/>
              </a:solidFill>
            </a:endParaRPr>
          </a:p>
        </p:txBody>
      </p:sp>
      <p:pic>
        <p:nvPicPr>
          <p:cNvPr descr="A diagram of a model&#10;&#10;Description automatically generated" id="172" name="Google Shape;172;p7"/>
          <p:cNvPicPr preferRelativeResize="0"/>
          <p:nvPr/>
        </p:nvPicPr>
        <p:blipFill rotWithShape="1">
          <a:blip r:embed="rId4">
            <a:alphaModFix/>
          </a:blip>
          <a:srcRect b="0" l="0" r="0" t="0"/>
          <a:stretch/>
        </p:blipFill>
        <p:spPr>
          <a:xfrm>
            <a:off x="6283910" y="2238765"/>
            <a:ext cx="5532268" cy="22272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9" name="Google Shape;179;p8"/>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CA" sz="4800"/>
              <a:t>Forward Process</a:t>
            </a:r>
            <a:endParaRPr/>
          </a:p>
        </p:txBody>
      </p:sp>
      <p:sp>
        <p:nvSpPr>
          <p:cNvPr id="180" name="Google Shape;180;p8"/>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1" name="Google Shape;181;p8"/>
          <p:cNvSpPr txBox="1"/>
          <p:nvPr>
            <p:ph idx="1" type="body"/>
          </p:nvPr>
        </p:nvSpPr>
        <p:spPr>
          <a:xfrm>
            <a:off x="4654295" y="502920"/>
            <a:ext cx="6894576" cy="1463040"/>
          </a:xfrm>
          <a:prstGeom prst="rect">
            <a:avLst/>
          </a:prstGeom>
          <a:blipFill rotWithShape="1">
            <a:blip r:embed="rId3">
              <a:alphaModFix/>
            </a:blip>
            <a:stretch>
              <a:fillRect b="-56247" l="-972" r="0" t="-7081"/>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CA"/>
              <a:t> </a:t>
            </a:r>
            <a:endParaRPr/>
          </a:p>
        </p:txBody>
      </p:sp>
      <p:pic>
        <p:nvPicPr>
          <p:cNvPr descr="A cat walking in the snow&#10;&#10;Description automatically generated" id="182" name="Google Shape;182;p8"/>
          <p:cNvPicPr preferRelativeResize="0"/>
          <p:nvPr/>
        </p:nvPicPr>
        <p:blipFill rotWithShape="1">
          <a:blip r:embed="rId4">
            <a:alphaModFix/>
          </a:blip>
          <a:srcRect b="0" l="0" r="0" t="0"/>
          <a:stretch/>
        </p:blipFill>
        <p:spPr>
          <a:xfrm>
            <a:off x="630936" y="2632922"/>
            <a:ext cx="10917936" cy="32753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9" name="Google Shape;189;p9"/>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CA" sz="4800"/>
              <a:t>Forward Process</a:t>
            </a:r>
            <a:endParaRPr/>
          </a:p>
        </p:txBody>
      </p:sp>
      <p:sp>
        <p:nvSpPr>
          <p:cNvPr id="190" name="Google Shape;190;p9"/>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1" name="Google Shape;191;p9"/>
          <p:cNvSpPr txBox="1"/>
          <p:nvPr>
            <p:ph idx="1" type="body"/>
          </p:nvPr>
        </p:nvSpPr>
        <p:spPr>
          <a:xfrm>
            <a:off x="4654295" y="502920"/>
            <a:ext cx="6894576" cy="1463040"/>
          </a:xfrm>
          <a:prstGeom prst="rect">
            <a:avLst/>
          </a:prstGeom>
          <a:blipFill rotWithShape="1">
            <a:blip r:embed="rId3">
              <a:alphaModFix/>
            </a:blip>
            <a:stretch>
              <a:fillRect b="-56247" l="-972" r="0" t="-7081"/>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CA"/>
              <a:t> </a:t>
            </a:r>
            <a:endParaRPr/>
          </a:p>
        </p:txBody>
      </p:sp>
      <p:pic>
        <p:nvPicPr>
          <p:cNvPr descr="A cat walking in the snow&#10;&#10;Description automatically generated" id="192" name="Google Shape;192;p9"/>
          <p:cNvPicPr preferRelativeResize="0"/>
          <p:nvPr/>
        </p:nvPicPr>
        <p:blipFill rotWithShape="1">
          <a:blip r:embed="rId4">
            <a:alphaModFix/>
          </a:blip>
          <a:srcRect b="0" l="0" r="0" t="0"/>
          <a:stretch/>
        </p:blipFill>
        <p:spPr>
          <a:xfrm>
            <a:off x="630936" y="2632922"/>
            <a:ext cx="10917936" cy="3275380"/>
          </a:xfrm>
          <a:prstGeom prst="rect">
            <a:avLst/>
          </a:prstGeom>
          <a:noFill/>
          <a:ln>
            <a:noFill/>
          </a:ln>
        </p:spPr>
      </p:pic>
      <p:sp>
        <p:nvSpPr>
          <p:cNvPr id="193" name="Google Shape;193;p9"/>
          <p:cNvSpPr/>
          <p:nvPr/>
        </p:nvSpPr>
        <p:spPr>
          <a:xfrm>
            <a:off x="4654295" y="5335480"/>
            <a:ext cx="903126" cy="363984"/>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4" name="Google Shape;194;p9"/>
          <p:cNvSpPr/>
          <p:nvPr/>
        </p:nvSpPr>
        <p:spPr>
          <a:xfrm>
            <a:off x="5415379" y="3071674"/>
            <a:ext cx="1571347" cy="110527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5" name="Google Shape;195;p9"/>
          <p:cNvSpPr txBox="1"/>
          <p:nvPr/>
        </p:nvSpPr>
        <p:spPr>
          <a:xfrm>
            <a:off x="6527055" y="4161943"/>
            <a:ext cx="7812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1800" u="none" cap="none" strike="noStrike">
                <a:solidFill>
                  <a:schemeClr val="accent1"/>
                </a:solidFill>
                <a:latin typeface="Calibri"/>
                <a:ea typeface="Calibri"/>
                <a:cs typeface="Calibri"/>
                <a:sym typeface="Calibri"/>
              </a:rPr>
              <a:t>Input</a:t>
            </a:r>
            <a:endParaRPr/>
          </a:p>
        </p:txBody>
      </p:sp>
      <p:sp>
        <p:nvSpPr>
          <p:cNvPr id="196" name="Google Shape;196;p9"/>
          <p:cNvSpPr txBox="1"/>
          <p:nvPr/>
        </p:nvSpPr>
        <p:spPr>
          <a:xfrm>
            <a:off x="5557421" y="5316204"/>
            <a:ext cx="6094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chemeClr val="accent1"/>
                </a:solidFill>
                <a:latin typeface="Calibri"/>
                <a:ea typeface="Calibri"/>
                <a:cs typeface="Calibri"/>
                <a:sym typeface="Calibri"/>
              </a:rPr>
              <a:t>Input</a:t>
            </a:r>
            <a:endParaRPr/>
          </a:p>
        </p:txBody>
      </p:sp>
      <p:sp>
        <p:nvSpPr>
          <p:cNvPr id="197" name="Google Shape;197;p9"/>
          <p:cNvSpPr/>
          <p:nvPr/>
        </p:nvSpPr>
        <p:spPr>
          <a:xfrm>
            <a:off x="4352543" y="4341181"/>
            <a:ext cx="1462331" cy="914400"/>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Calibri"/>
              <a:ea typeface="Calibri"/>
              <a:cs typeface="Calibri"/>
              <a:sym typeface="Calibri"/>
            </a:endParaRPr>
          </a:p>
        </p:txBody>
      </p:sp>
      <p:sp>
        <p:nvSpPr>
          <p:cNvPr id="198" name="Google Shape;198;p9"/>
          <p:cNvSpPr txBox="1"/>
          <p:nvPr/>
        </p:nvSpPr>
        <p:spPr>
          <a:xfrm>
            <a:off x="5851378" y="4480311"/>
            <a:ext cx="12492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800">
                <a:solidFill>
                  <a:srgbClr val="FF0000"/>
                </a:solidFill>
                <a:latin typeface="Calibri"/>
                <a:ea typeface="Calibri"/>
                <a:cs typeface="Calibri"/>
                <a:sym typeface="Calibri"/>
              </a:rPr>
              <a:t>Ground truth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sp>
        <p:nvSpPr>
          <p:cNvPr id="204" name="Google Shape;204;g2a714c5d016_0_0"/>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g2a714c5d016_0_0"/>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000"/>
              <a:buFont typeface="Poppins"/>
              <a:buNone/>
            </a:pPr>
            <a:r>
              <a:rPr lang="en-CA" sz="3000"/>
              <a:t>Dall-E 2 by OpenAI</a:t>
            </a:r>
            <a:endParaRPr sz="3000"/>
          </a:p>
        </p:txBody>
      </p:sp>
      <p:sp>
        <p:nvSpPr>
          <p:cNvPr id="206" name="Google Shape;206;g2a714c5d016_0_0"/>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g2a714c5d016_0_0"/>
          <p:cNvSpPr txBox="1"/>
          <p:nvPr>
            <p:ph idx="1" type="body"/>
          </p:nvPr>
        </p:nvSpPr>
        <p:spPr>
          <a:xfrm>
            <a:off x="387650" y="2005463"/>
            <a:ext cx="6540600" cy="47469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t/>
            </a:r>
            <a:endParaRPr b="0" i="0" sz="2200">
              <a:latin typeface="Roboto"/>
              <a:ea typeface="Roboto"/>
              <a:cs typeface="Roboto"/>
              <a:sym typeface="Roboto"/>
            </a:endParaRPr>
          </a:p>
          <a:p>
            <a:pPr indent="-368300" lvl="0" marL="457200" rtl="0" algn="l">
              <a:lnSpc>
                <a:spcPct val="90000"/>
              </a:lnSpc>
              <a:spcBef>
                <a:spcPts val="0"/>
              </a:spcBef>
              <a:spcAft>
                <a:spcPts val="0"/>
              </a:spcAft>
              <a:buSzPts val="2200"/>
              <a:buFont typeface="Roboto"/>
              <a:buChar char="•"/>
            </a:pPr>
            <a:r>
              <a:rPr b="1" lang="en-CA" sz="2200">
                <a:latin typeface="Roboto"/>
                <a:ea typeface="Roboto"/>
                <a:cs typeface="Roboto"/>
                <a:sym typeface="Roboto"/>
              </a:rPr>
              <a:t>Description: </a:t>
            </a:r>
            <a:r>
              <a:rPr lang="en-CA" sz="2200">
                <a:latin typeface="Roboto"/>
                <a:ea typeface="Roboto"/>
                <a:cs typeface="Roboto"/>
                <a:sym typeface="Roboto"/>
              </a:rPr>
              <a:t>DALL-E 2 is an advanced AI model developed by OpenAI, capable of generating high-quality, creative images from textual descriptions.</a:t>
            </a:r>
            <a:br>
              <a:rPr lang="en-CA" sz="2200">
                <a:latin typeface="Roboto"/>
                <a:ea typeface="Roboto"/>
                <a:cs typeface="Roboto"/>
                <a:sym typeface="Roboto"/>
              </a:rPr>
            </a:br>
            <a:endParaRPr sz="2200">
              <a:latin typeface="Roboto"/>
              <a:ea typeface="Roboto"/>
              <a:cs typeface="Roboto"/>
              <a:sym typeface="Roboto"/>
            </a:endParaRPr>
          </a:p>
          <a:p>
            <a:pPr indent="-368300" lvl="0" marL="457200" rtl="0" algn="l">
              <a:lnSpc>
                <a:spcPct val="90000"/>
              </a:lnSpc>
              <a:spcBef>
                <a:spcPts val="0"/>
              </a:spcBef>
              <a:spcAft>
                <a:spcPts val="0"/>
              </a:spcAft>
              <a:buSzPts val="2200"/>
              <a:buFont typeface="Roboto"/>
              <a:buChar char="•"/>
            </a:pPr>
            <a:r>
              <a:rPr b="1" lang="en-CA" sz="2200">
                <a:latin typeface="Roboto"/>
                <a:ea typeface="Roboto"/>
                <a:cs typeface="Roboto"/>
                <a:sym typeface="Roboto"/>
              </a:rPr>
              <a:t>Innovations: </a:t>
            </a:r>
            <a:r>
              <a:rPr lang="en-CA" sz="2200">
                <a:latin typeface="Roboto"/>
                <a:ea typeface="Roboto"/>
                <a:cs typeface="Roboto"/>
                <a:sym typeface="Roboto"/>
              </a:rPr>
              <a:t>Create detailed, imaginative, and sometimes whimsical images that can combine unrelated concepts in a coherent visual format.</a:t>
            </a:r>
            <a:br>
              <a:rPr lang="en-CA" sz="2200">
                <a:latin typeface="Roboto"/>
                <a:ea typeface="Roboto"/>
                <a:cs typeface="Roboto"/>
                <a:sym typeface="Roboto"/>
              </a:rPr>
            </a:br>
            <a:endParaRPr sz="2200">
              <a:latin typeface="Roboto"/>
              <a:ea typeface="Roboto"/>
              <a:cs typeface="Roboto"/>
              <a:sym typeface="Roboto"/>
            </a:endParaRPr>
          </a:p>
          <a:p>
            <a:pPr indent="-368300" lvl="0" marL="457200" rtl="0" algn="l">
              <a:lnSpc>
                <a:spcPct val="90000"/>
              </a:lnSpc>
              <a:spcBef>
                <a:spcPts val="0"/>
              </a:spcBef>
              <a:spcAft>
                <a:spcPts val="0"/>
              </a:spcAft>
              <a:buSzPts val="2200"/>
              <a:buFont typeface="Roboto"/>
              <a:buChar char="•"/>
            </a:pPr>
            <a:r>
              <a:rPr b="1" lang="en-CA" sz="2200">
                <a:latin typeface="Roboto"/>
                <a:ea typeface="Roboto"/>
                <a:cs typeface="Roboto"/>
                <a:sym typeface="Roboto"/>
              </a:rPr>
              <a:t>Applications: </a:t>
            </a:r>
            <a:r>
              <a:rPr lang="en-CA" sz="2200">
                <a:latin typeface="Roboto"/>
                <a:ea typeface="Roboto"/>
                <a:cs typeface="Roboto"/>
                <a:sym typeface="Roboto"/>
              </a:rPr>
              <a:t>Creative industries for conceptual art, advertising, and generating visual ideas from textual descriptions.</a:t>
            </a:r>
            <a:endParaRPr sz="2200">
              <a:latin typeface="Roboto"/>
              <a:ea typeface="Roboto"/>
              <a:cs typeface="Roboto"/>
              <a:sym typeface="Roboto"/>
            </a:endParaRPr>
          </a:p>
        </p:txBody>
      </p:sp>
      <p:pic>
        <p:nvPicPr>
          <p:cNvPr id="208" name="Google Shape;208;g2a714c5d016_0_0"/>
          <p:cNvPicPr preferRelativeResize="0"/>
          <p:nvPr/>
        </p:nvPicPr>
        <p:blipFill>
          <a:blip r:embed="rId3">
            <a:alphaModFix/>
          </a:blip>
          <a:stretch>
            <a:fillRect/>
          </a:stretch>
        </p:blipFill>
        <p:spPr>
          <a:xfrm>
            <a:off x="7022050" y="1802750"/>
            <a:ext cx="4949624" cy="49496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g2a714c5d016_0_11"/>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 name="Google Shape;215;g2a714c5d016_0_11"/>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000"/>
              <a:buFont typeface="Poppins"/>
              <a:buNone/>
            </a:pPr>
            <a:r>
              <a:rPr lang="en-CA" sz="3000">
                <a:latin typeface="Poppins"/>
                <a:ea typeface="Poppins"/>
                <a:cs typeface="Poppins"/>
                <a:sym typeface="Poppins"/>
              </a:rPr>
              <a:t>Imagen by Google</a:t>
            </a:r>
            <a:endParaRPr sz="3000"/>
          </a:p>
        </p:txBody>
      </p:sp>
      <p:sp>
        <p:nvSpPr>
          <p:cNvPr id="216" name="Google Shape;216;g2a714c5d016_0_11"/>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 name="Google Shape;217;g2a714c5d016_0_11"/>
          <p:cNvSpPr txBox="1"/>
          <p:nvPr>
            <p:ph idx="1" type="body"/>
          </p:nvPr>
        </p:nvSpPr>
        <p:spPr>
          <a:xfrm>
            <a:off x="669000" y="1952700"/>
            <a:ext cx="6241800" cy="4729500"/>
          </a:xfrm>
          <a:prstGeom prst="rect">
            <a:avLst/>
          </a:prstGeom>
          <a:noFill/>
          <a:ln>
            <a:noFill/>
          </a:ln>
        </p:spPr>
        <p:txBody>
          <a:bodyPr anchorCtr="0" anchor="t" bIns="45700" lIns="91425" spcFirstLastPara="1" rIns="91425" wrap="square" tIns="45700">
            <a:normAutofit lnSpcReduction="10000"/>
          </a:bodyPr>
          <a:lstStyle/>
          <a:p>
            <a:pPr indent="0" lvl="0" marL="228600" rtl="0" algn="l">
              <a:spcBef>
                <a:spcPts val="1000"/>
              </a:spcBef>
              <a:spcAft>
                <a:spcPts val="0"/>
              </a:spcAft>
              <a:buNone/>
            </a:pPr>
            <a:r>
              <a:t/>
            </a:r>
            <a:endParaRPr sz="2200">
              <a:latin typeface="Roboto"/>
              <a:ea typeface="Roboto"/>
              <a:cs typeface="Roboto"/>
              <a:sym typeface="Roboto"/>
            </a:endParaRPr>
          </a:p>
          <a:p>
            <a:pPr indent="-368300" lvl="0" marL="457200" rtl="0" algn="l">
              <a:spcBef>
                <a:spcPts val="1000"/>
              </a:spcBef>
              <a:spcAft>
                <a:spcPts val="0"/>
              </a:spcAft>
              <a:buSzPts val="2200"/>
              <a:buFont typeface="Roboto"/>
              <a:buChar char="•"/>
            </a:pPr>
            <a:r>
              <a:rPr b="1" lang="en-CA" sz="2200">
                <a:latin typeface="Roboto"/>
                <a:ea typeface="Roboto"/>
                <a:cs typeface="Roboto"/>
                <a:sym typeface="Roboto"/>
              </a:rPr>
              <a:t>Description: </a:t>
            </a:r>
            <a:r>
              <a:rPr lang="en-CA" sz="2200">
                <a:latin typeface="Roboto"/>
                <a:ea typeface="Roboto"/>
                <a:cs typeface="Roboto"/>
                <a:sym typeface="Roboto"/>
              </a:rPr>
              <a:t>Imagen, developed by Google, is a state-of-the-art text-to-image AI model. It's renowned for generating photorealistic images from descriptive text, pushing the boundaries of AI's capability in understanding and rendering detailed visuals.</a:t>
            </a:r>
            <a:br>
              <a:rPr lang="en-CA" sz="2200">
                <a:latin typeface="Roboto"/>
                <a:ea typeface="Roboto"/>
                <a:cs typeface="Roboto"/>
                <a:sym typeface="Roboto"/>
              </a:rPr>
            </a:br>
            <a:endParaRPr sz="2200">
              <a:latin typeface="Roboto"/>
              <a:ea typeface="Roboto"/>
              <a:cs typeface="Roboto"/>
              <a:sym typeface="Roboto"/>
            </a:endParaRPr>
          </a:p>
          <a:p>
            <a:pPr indent="-368300" lvl="0" marL="457200" rtl="0" algn="l">
              <a:spcBef>
                <a:spcPts val="0"/>
              </a:spcBef>
              <a:spcAft>
                <a:spcPts val="0"/>
              </a:spcAft>
              <a:buSzPts val="2200"/>
              <a:buFont typeface="Roboto"/>
              <a:buChar char="•"/>
            </a:pPr>
            <a:r>
              <a:rPr b="1" lang="en-CA" sz="2200">
                <a:latin typeface="Roboto"/>
                <a:ea typeface="Roboto"/>
                <a:cs typeface="Roboto"/>
                <a:sym typeface="Roboto"/>
              </a:rPr>
              <a:t>Innovations:</a:t>
            </a:r>
            <a:r>
              <a:rPr lang="en-CA" sz="2200">
                <a:latin typeface="Roboto"/>
                <a:ea typeface="Roboto"/>
                <a:cs typeface="Roboto"/>
                <a:sym typeface="Roboto"/>
              </a:rPr>
              <a:t> Fidelity and resolution in image generation, as well as its ability to handle nuanced and complex descriptions.</a:t>
            </a:r>
            <a:br>
              <a:rPr lang="en-CA" sz="2200">
                <a:latin typeface="Roboto"/>
                <a:ea typeface="Roboto"/>
                <a:cs typeface="Roboto"/>
                <a:sym typeface="Roboto"/>
              </a:rPr>
            </a:br>
            <a:endParaRPr sz="2200">
              <a:latin typeface="Roboto"/>
              <a:ea typeface="Roboto"/>
              <a:cs typeface="Roboto"/>
              <a:sym typeface="Roboto"/>
            </a:endParaRPr>
          </a:p>
          <a:p>
            <a:pPr indent="-368300" lvl="0" marL="457200" rtl="0" algn="l">
              <a:spcBef>
                <a:spcPts val="0"/>
              </a:spcBef>
              <a:spcAft>
                <a:spcPts val="0"/>
              </a:spcAft>
              <a:buSzPts val="2200"/>
              <a:buFont typeface="Roboto"/>
              <a:buChar char="•"/>
            </a:pPr>
            <a:r>
              <a:rPr b="1" lang="en-CA" sz="2200">
                <a:latin typeface="Roboto"/>
                <a:ea typeface="Roboto"/>
                <a:cs typeface="Roboto"/>
                <a:sym typeface="Roboto"/>
              </a:rPr>
              <a:t>Applications: </a:t>
            </a:r>
            <a:r>
              <a:rPr lang="en-CA" sz="2200">
                <a:latin typeface="Roboto"/>
                <a:ea typeface="Roboto"/>
                <a:cs typeface="Roboto"/>
                <a:sym typeface="Roboto"/>
              </a:rPr>
              <a:t>Marketing, content creation, and education.</a:t>
            </a:r>
            <a:endParaRPr sz="2200">
              <a:latin typeface="Roboto"/>
              <a:ea typeface="Roboto"/>
              <a:cs typeface="Roboto"/>
              <a:sym typeface="Roboto"/>
            </a:endParaRPr>
          </a:p>
        </p:txBody>
      </p:sp>
      <p:pic>
        <p:nvPicPr>
          <p:cNvPr id="218" name="Google Shape;218;g2a714c5d016_0_11"/>
          <p:cNvPicPr preferRelativeResize="0"/>
          <p:nvPr/>
        </p:nvPicPr>
        <p:blipFill>
          <a:blip r:embed="rId3">
            <a:alphaModFix/>
          </a:blip>
          <a:stretch>
            <a:fillRect/>
          </a:stretch>
        </p:blipFill>
        <p:spPr>
          <a:xfrm>
            <a:off x="6910800" y="1776900"/>
            <a:ext cx="4905300" cy="4905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g2a714c5d016_0_19"/>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g2a714c5d016_0_19"/>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000"/>
              <a:buFont typeface="Poppins"/>
              <a:buNone/>
            </a:pPr>
            <a:r>
              <a:rPr lang="en-CA" sz="3000">
                <a:latin typeface="Poppins"/>
                <a:ea typeface="Poppins"/>
                <a:cs typeface="Poppins"/>
                <a:sym typeface="Poppins"/>
              </a:rPr>
              <a:t>Stable Diffusion by StabilityAI</a:t>
            </a:r>
            <a:endParaRPr sz="3000"/>
          </a:p>
        </p:txBody>
      </p:sp>
      <p:sp>
        <p:nvSpPr>
          <p:cNvPr id="226" name="Google Shape;226;g2a714c5d016_0_19"/>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g2a714c5d016_0_19"/>
          <p:cNvSpPr txBox="1"/>
          <p:nvPr>
            <p:ph idx="1" type="body"/>
          </p:nvPr>
        </p:nvSpPr>
        <p:spPr>
          <a:xfrm>
            <a:off x="499800" y="2128575"/>
            <a:ext cx="6243300" cy="4254600"/>
          </a:xfrm>
          <a:prstGeom prst="rect">
            <a:avLst/>
          </a:prstGeom>
          <a:noFill/>
          <a:ln>
            <a:noFill/>
          </a:ln>
        </p:spPr>
        <p:txBody>
          <a:bodyPr anchorCtr="0" anchor="t" bIns="45700" lIns="91425" spcFirstLastPara="1" rIns="91425" wrap="square" tIns="45700">
            <a:normAutofit/>
          </a:bodyPr>
          <a:lstStyle/>
          <a:p>
            <a:pPr indent="0" lvl="0" marL="228600" rtl="0" algn="l">
              <a:spcBef>
                <a:spcPts val="1000"/>
              </a:spcBef>
              <a:spcAft>
                <a:spcPts val="0"/>
              </a:spcAft>
              <a:buNone/>
            </a:pPr>
            <a:r>
              <a:t/>
            </a:r>
            <a:endParaRPr sz="2200">
              <a:latin typeface="Roboto"/>
              <a:ea typeface="Roboto"/>
              <a:cs typeface="Roboto"/>
              <a:sym typeface="Roboto"/>
            </a:endParaRPr>
          </a:p>
          <a:p>
            <a:pPr indent="-368300" lvl="0" marL="457200" rtl="0" algn="l">
              <a:spcBef>
                <a:spcPts val="1000"/>
              </a:spcBef>
              <a:spcAft>
                <a:spcPts val="0"/>
              </a:spcAft>
              <a:buSzPts val="2200"/>
              <a:buFont typeface="Roboto"/>
              <a:buChar char="•"/>
            </a:pPr>
            <a:r>
              <a:rPr b="1" lang="en-CA" sz="2200">
                <a:latin typeface="Roboto"/>
                <a:ea typeface="Roboto"/>
                <a:cs typeface="Roboto"/>
                <a:sym typeface="Roboto"/>
              </a:rPr>
              <a:t>Description: </a:t>
            </a:r>
            <a:r>
              <a:rPr lang="en-CA" sz="2200">
                <a:latin typeface="Roboto"/>
                <a:ea typeface="Roboto"/>
                <a:cs typeface="Roboto"/>
                <a:sym typeface="Roboto"/>
              </a:rPr>
              <a:t>Stable Diffusion is an AI model by StabilityAI designed for generating high-quality images from text prompts. </a:t>
            </a:r>
            <a:br>
              <a:rPr lang="en-CA" sz="2200">
                <a:latin typeface="Roboto"/>
                <a:ea typeface="Roboto"/>
                <a:cs typeface="Roboto"/>
                <a:sym typeface="Roboto"/>
              </a:rPr>
            </a:br>
            <a:endParaRPr sz="2200">
              <a:latin typeface="Roboto"/>
              <a:ea typeface="Roboto"/>
              <a:cs typeface="Roboto"/>
              <a:sym typeface="Roboto"/>
            </a:endParaRPr>
          </a:p>
          <a:p>
            <a:pPr indent="-368300" lvl="0" marL="457200" rtl="0" algn="l">
              <a:spcBef>
                <a:spcPts val="0"/>
              </a:spcBef>
              <a:spcAft>
                <a:spcPts val="0"/>
              </a:spcAft>
              <a:buSzPts val="2200"/>
              <a:buFont typeface="Roboto"/>
              <a:buChar char="•"/>
            </a:pPr>
            <a:r>
              <a:rPr b="1" lang="en-CA" sz="2200">
                <a:latin typeface="Roboto"/>
                <a:ea typeface="Roboto"/>
                <a:cs typeface="Roboto"/>
                <a:sym typeface="Roboto"/>
              </a:rPr>
              <a:t>Innovations: </a:t>
            </a:r>
            <a:r>
              <a:rPr lang="en-CA" sz="2200">
                <a:latin typeface="Roboto"/>
                <a:ea typeface="Roboto"/>
                <a:cs typeface="Roboto"/>
                <a:sym typeface="Roboto"/>
              </a:rPr>
              <a:t>Balance between image quality and computational efficiency.</a:t>
            </a:r>
            <a:br>
              <a:rPr lang="en-CA" sz="2200">
                <a:latin typeface="Roboto"/>
                <a:ea typeface="Roboto"/>
                <a:cs typeface="Roboto"/>
                <a:sym typeface="Roboto"/>
              </a:rPr>
            </a:br>
            <a:endParaRPr sz="2200">
              <a:latin typeface="Roboto"/>
              <a:ea typeface="Roboto"/>
              <a:cs typeface="Roboto"/>
              <a:sym typeface="Roboto"/>
            </a:endParaRPr>
          </a:p>
          <a:p>
            <a:pPr indent="-368300" lvl="0" marL="457200" rtl="0" algn="l">
              <a:spcBef>
                <a:spcPts val="0"/>
              </a:spcBef>
              <a:spcAft>
                <a:spcPts val="0"/>
              </a:spcAft>
              <a:buSzPts val="2200"/>
              <a:buFont typeface="Roboto"/>
              <a:buChar char="•"/>
            </a:pPr>
            <a:r>
              <a:rPr b="1" lang="en-CA" sz="2200">
                <a:latin typeface="Roboto"/>
                <a:ea typeface="Roboto"/>
                <a:cs typeface="Roboto"/>
                <a:sym typeface="Roboto"/>
              </a:rPr>
              <a:t>Applications: </a:t>
            </a:r>
            <a:r>
              <a:rPr lang="en-CA" sz="2200">
                <a:latin typeface="Roboto"/>
                <a:ea typeface="Roboto"/>
                <a:cs typeface="Roboto"/>
                <a:sym typeface="Roboto"/>
              </a:rPr>
              <a:t>Aids in democratizing AI art creation, allowing artists, educators.</a:t>
            </a:r>
            <a:endParaRPr sz="2200">
              <a:latin typeface="Roboto"/>
              <a:ea typeface="Roboto"/>
              <a:cs typeface="Roboto"/>
              <a:sym typeface="Roboto"/>
            </a:endParaRPr>
          </a:p>
        </p:txBody>
      </p:sp>
      <p:pic>
        <p:nvPicPr>
          <p:cNvPr id="228" name="Google Shape;228;g2a714c5d016_0_19"/>
          <p:cNvPicPr preferRelativeResize="0"/>
          <p:nvPr/>
        </p:nvPicPr>
        <p:blipFill>
          <a:blip r:embed="rId3">
            <a:alphaModFix/>
          </a:blip>
          <a:stretch>
            <a:fillRect/>
          </a:stretch>
        </p:blipFill>
        <p:spPr>
          <a:xfrm>
            <a:off x="6981125" y="1732488"/>
            <a:ext cx="5046774" cy="50467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3" name="Shape 233"/>
        <p:cNvGrpSpPr/>
        <p:nvPr/>
      </p:nvGrpSpPr>
      <p:grpSpPr>
        <a:xfrm>
          <a:off x="0" y="0"/>
          <a:ext cx="0" cy="0"/>
          <a:chOff x="0" y="0"/>
          <a:chExt cx="0" cy="0"/>
        </a:xfrm>
      </p:grpSpPr>
      <p:sp>
        <p:nvSpPr>
          <p:cNvPr id="234" name="Google Shape;234;g2a714c5d016_0_27"/>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g2a714c5d016_0_27"/>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000"/>
              <a:buFont typeface="Poppins"/>
              <a:buNone/>
            </a:pPr>
            <a:r>
              <a:rPr lang="en-CA" sz="3000">
                <a:latin typeface="Poppins"/>
                <a:ea typeface="Poppins"/>
                <a:cs typeface="Poppins"/>
                <a:sym typeface="Poppins"/>
              </a:rPr>
              <a:t>Midjourney</a:t>
            </a:r>
            <a:endParaRPr sz="3000"/>
          </a:p>
        </p:txBody>
      </p:sp>
      <p:sp>
        <p:nvSpPr>
          <p:cNvPr id="236" name="Google Shape;236;g2a714c5d016_0_27"/>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g2a714c5d016_0_27"/>
          <p:cNvSpPr txBox="1"/>
          <p:nvPr>
            <p:ph idx="1" type="body"/>
          </p:nvPr>
        </p:nvSpPr>
        <p:spPr>
          <a:xfrm>
            <a:off x="669000" y="2357100"/>
            <a:ext cx="6435300" cy="4500900"/>
          </a:xfrm>
          <a:prstGeom prst="rect">
            <a:avLst/>
          </a:prstGeom>
          <a:noFill/>
          <a:ln>
            <a:noFill/>
          </a:ln>
        </p:spPr>
        <p:txBody>
          <a:bodyPr anchorCtr="0" anchor="t" bIns="45700" lIns="91425" spcFirstLastPara="1" rIns="91425" wrap="square" tIns="45700">
            <a:normAutofit/>
          </a:bodyPr>
          <a:lstStyle/>
          <a:p>
            <a:pPr indent="-368300" lvl="0" marL="457200" rtl="0" algn="l">
              <a:spcBef>
                <a:spcPts val="1000"/>
              </a:spcBef>
              <a:spcAft>
                <a:spcPts val="0"/>
              </a:spcAft>
              <a:buSzPts val="2200"/>
              <a:buFont typeface="Roboto"/>
              <a:buChar char="•"/>
            </a:pPr>
            <a:r>
              <a:rPr b="1" lang="en-CA" sz="2200">
                <a:latin typeface="Roboto"/>
                <a:ea typeface="Roboto"/>
                <a:cs typeface="Roboto"/>
                <a:sym typeface="Roboto"/>
              </a:rPr>
              <a:t>Description:</a:t>
            </a:r>
            <a:r>
              <a:rPr lang="en-CA" sz="2200">
                <a:latin typeface="Roboto"/>
                <a:ea typeface="Roboto"/>
                <a:cs typeface="Roboto"/>
                <a:sym typeface="Roboto"/>
              </a:rPr>
              <a:t> Midjourney is an AI tool that specializes in creating artistic and visually striking images from text descriptions.</a:t>
            </a:r>
            <a:br>
              <a:rPr lang="en-CA" sz="2200">
                <a:latin typeface="Roboto"/>
                <a:ea typeface="Roboto"/>
                <a:cs typeface="Roboto"/>
                <a:sym typeface="Roboto"/>
              </a:rPr>
            </a:br>
            <a:endParaRPr sz="2200">
              <a:latin typeface="Roboto"/>
              <a:ea typeface="Roboto"/>
              <a:cs typeface="Roboto"/>
              <a:sym typeface="Roboto"/>
            </a:endParaRPr>
          </a:p>
          <a:p>
            <a:pPr indent="-368300" lvl="0" marL="457200" rtl="0" algn="l">
              <a:spcBef>
                <a:spcPts val="0"/>
              </a:spcBef>
              <a:spcAft>
                <a:spcPts val="0"/>
              </a:spcAft>
              <a:buSzPts val="2200"/>
              <a:buFont typeface="Roboto"/>
              <a:buChar char="•"/>
            </a:pPr>
            <a:r>
              <a:rPr b="1" lang="en-CA" sz="2200">
                <a:latin typeface="Roboto"/>
                <a:ea typeface="Roboto"/>
                <a:cs typeface="Roboto"/>
                <a:sym typeface="Roboto"/>
              </a:rPr>
              <a:t>Innovations: </a:t>
            </a:r>
            <a:r>
              <a:rPr lang="en-CA" sz="2200">
                <a:latin typeface="Roboto"/>
                <a:ea typeface="Roboto"/>
                <a:cs typeface="Roboto"/>
                <a:sym typeface="Roboto"/>
              </a:rPr>
              <a:t> Artistic styles and abstract imagery, offering a different perspective on AI-generated art.</a:t>
            </a:r>
            <a:br>
              <a:rPr lang="en-CA" sz="2200">
                <a:latin typeface="Roboto"/>
                <a:ea typeface="Roboto"/>
                <a:cs typeface="Roboto"/>
                <a:sym typeface="Roboto"/>
              </a:rPr>
            </a:br>
            <a:endParaRPr sz="2200">
              <a:latin typeface="Roboto"/>
              <a:ea typeface="Roboto"/>
              <a:cs typeface="Roboto"/>
              <a:sym typeface="Roboto"/>
            </a:endParaRPr>
          </a:p>
          <a:p>
            <a:pPr indent="-368300" lvl="0" marL="457200" rtl="0" algn="l">
              <a:spcBef>
                <a:spcPts val="0"/>
              </a:spcBef>
              <a:spcAft>
                <a:spcPts val="0"/>
              </a:spcAft>
              <a:buSzPts val="2200"/>
              <a:buFont typeface="Roboto"/>
              <a:buChar char="•"/>
            </a:pPr>
            <a:r>
              <a:rPr b="1" lang="en-CA" sz="2200">
                <a:latin typeface="Roboto"/>
                <a:ea typeface="Roboto"/>
                <a:cs typeface="Roboto"/>
                <a:sym typeface="Roboto"/>
              </a:rPr>
              <a:t>Applications: </a:t>
            </a:r>
            <a:r>
              <a:rPr lang="en-CA" sz="2200">
                <a:latin typeface="Roboto"/>
                <a:ea typeface="Roboto"/>
                <a:cs typeface="Roboto"/>
                <a:sym typeface="Roboto"/>
              </a:rPr>
              <a:t>Artists, designers, and creatives seeking innovative and unconventional visual interpretations of their ideas.</a:t>
            </a:r>
            <a:endParaRPr sz="2200">
              <a:latin typeface="Roboto"/>
              <a:ea typeface="Roboto"/>
              <a:cs typeface="Roboto"/>
              <a:sym typeface="Roboto"/>
            </a:endParaRPr>
          </a:p>
          <a:p>
            <a:pPr indent="-88900" lvl="0" marL="228600" rtl="0" algn="l">
              <a:lnSpc>
                <a:spcPct val="90000"/>
              </a:lnSpc>
              <a:spcBef>
                <a:spcPts val="1000"/>
              </a:spcBef>
              <a:spcAft>
                <a:spcPts val="0"/>
              </a:spcAft>
              <a:buClr>
                <a:schemeClr val="dk1"/>
              </a:buClr>
              <a:buSzPts val="2200"/>
              <a:buNone/>
            </a:pPr>
            <a:r>
              <a:t/>
            </a:r>
            <a:endParaRPr sz="2200"/>
          </a:p>
        </p:txBody>
      </p:sp>
      <p:pic>
        <p:nvPicPr>
          <p:cNvPr id="238" name="Google Shape;238;g2a714c5d016_0_27"/>
          <p:cNvPicPr preferRelativeResize="0"/>
          <p:nvPr/>
        </p:nvPicPr>
        <p:blipFill>
          <a:blip r:embed="rId3">
            <a:alphaModFix/>
          </a:blip>
          <a:stretch>
            <a:fillRect/>
          </a:stretch>
        </p:blipFill>
        <p:spPr>
          <a:xfrm>
            <a:off x="7104300" y="1811200"/>
            <a:ext cx="4958876" cy="49588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g263fc59b3c6_0_2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 name="Google Shape;245;g263fc59b3c6_0_26"/>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CA" sz="2800">
                <a:latin typeface="Arial"/>
                <a:ea typeface="Arial"/>
                <a:cs typeface="Arial"/>
                <a:sym typeface="Arial"/>
              </a:rPr>
              <a:t>Notation</a:t>
            </a:r>
            <a:endParaRPr sz="3000">
              <a:latin typeface="Poppins"/>
              <a:ea typeface="Poppins"/>
              <a:cs typeface="Poppins"/>
              <a:sym typeface="Poppins"/>
            </a:endParaRPr>
          </a:p>
        </p:txBody>
      </p:sp>
      <p:sp>
        <p:nvSpPr>
          <p:cNvPr id="246" name="Google Shape;246;g263fc59b3c6_0_26"/>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g263fc59b3c6_0_26"/>
          <p:cNvSpPr txBox="1"/>
          <p:nvPr>
            <p:ph idx="1" type="body"/>
          </p:nvPr>
        </p:nvSpPr>
        <p:spPr>
          <a:xfrm>
            <a:off x="669000" y="1947925"/>
            <a:ext cx="10854000" cy="4254600"/>
          </a:xfrm>
          <a:prstGeom prst="rect">
            <a:avLst/>
          </a:prstGeom>
          <a:noFill/>
          <a:ln>
            <a:noFill/>
          </a:ln>
        </p:spPr>
        <p:txBody>
          <a:bodyPr anchorCtr="0" anchor="t" bIns="45700" lIns="91425" spcFirstLastPara="1" rIns="91425" wrap="square" tIns="45700">
            <a:normAutofit/>
          </a:bodyPr>
          <a:lstStyle/>
          <a:p>
            <a:pPr indent="-254000" lvl="0" marL="228600" rtl="0" algn="l">
              <a:spcBef>
                <a:spcPts val="1000"/>
              </a:spcBef>
              <a:spcAft>
                <a:spcPts val="0"/>
              </a:spcAft>
              <a:buSzPts val="2200"/>
              <a:buChar char="•"/>
            </a:pPr>
            <a:r>
              <a:rPr lang="en-CA" sz="2200">
                <a:latin typeface="Roboto"/>
                <a:ea typeface="Roboto"/>
                <a:cs typeface="Roboto"/>
                <a:sym typeface="Roboto"/>
              </a:rPr>
              <a:t>x</a:t>
            </a:r>
            <a:r>
              <a:rPr lang="en-CA" sz="1300">
                <a:latin typeface="Roboto"/>
                <a:ea typeface="Roboto"/>
                <a:cs typeface="Roboto"/>
                <a:sym typeface="Roboto"/>
              </a:rPr>
              <a:t>t</a:t>
            </a:r>
            <a:r>
              <a:rPr lang="en-CA" sz="1400">
                <a:latin typeface="Roboto"/>
                <a:ea typeface="Roboto"/>
                <a:cs typeface="Roboto"/>
                <a:sym typeface="Roboto"/>
              </a:rPr>
              <a:t>:</a:t>
            </a:r>
            <a:r>
              <a:rPr lang="en-CA" sz="2200">
                <a:latin typeface="Roboto"/>
                <a:ea typeface="Roboto"/>
                <a:cs typeface="Roboto"/>
                <a:sym typeface="Roboto"/>
              </a:rPr>
              <a:t> object on timestep t</a:t>
            </a:r>
            <a:endParaRPr sz="2200">
              <a:latin typeface="Roboto"/>
              <a:ea typeface="Roboto"/>
              <a:cs typeface="Roboto"/>
              <a:sym typeface="Roboto"/>
            </a:endParaRPr>
          </a:p>
          <a:p>
            <a:pPr indent="-254000" lvl="0" marL="228600" rtl="0" algn="l">
              <a:spcBef>
                <a:spcPts val="1000"/>
              </a:spcBef>
              <a:spcAft>
                <a:spcPts val="0"/>
              </a:spcAft>
              <a:buSzPts val="2200"/>
              <a:buFont typeface="Roboto"/>
              <a:buChar char="•"/>
            </a:pPr>
            <a:r>
              <a:rPr lang="en-CA" sz="2200">
                <a:latin typeface="Roboto"/>
                <a:ea typeface="Roboto"/>
                <a:cs typeface="Roboto"/>
                <a:sym typeface="Roboto"/>
              </a:rPr>
              <a:t>q: forward diffusion process</a:t>
            </a:r>
            <a:endParaRPr sz="2200">
              <a:latin typeface="Roboto"/>
              <a:ea typeface="Roboto"/>
              <a:cs typeface="Roboto"/>
              <a:sym typeface="Roboto"/>
            </a:endParaRPr>
          </a:p>
          <a:p>
            <a:pPr indent="-254000" lvl="0" marL="228600" rtl="0" algn="l">
              <a:spcBef>
                <a:spcPts val="1000"/>
              </a:spcBef>
              <a:spcAft>
                <a:spcPts val="0"/>
              </a:spcAft>
              <a:buSzPts val="2200"/>
              <a:buFont typeface="Roboto"/>
              <a:buChar char="•"/>
            </a:pPr>
            <a:r>
              <a:rPr lang="en-CA" sz="2200">
                <a:latin typeface="Roboto"/>
                <a:ea typeface="Roboto"/>
                <a:cs typeface="Roboto"/>
                <a:sym typeface="Roboto"/>
              </a:rPr>
              <a:t>p: reverse diffusion process  </a:t>
            </a:r>
            <a:endParaRPr sz="2200">
              <a:latin typeface="Roboto"/>
              <a:ea typeface="Roboto"/>
              <a:cs typeface="Roboto"/>
              <a:sym typeface="Roboto"/>
            </a:endParaRPr>
          </a:p>
        </p:txBody>
      </p:sp>
      <p:pic>
        <p:nvPicPr>
          <p:cNvPr id="248" name="Google Shape;248;g263fc59b3c6_0_26"/>
          <p:cNvPicPr preferRelativeResize="0"/>
          <p:nvPr/>
        </p:nvPicPr>
        <p:blipFill>
          <a:blip r:embed="rId3">
            <a:alphaModFix/>
          </a:blip>
          <a:stretch>
            <a:fillRect/>
          </a:stretch>
        </p:blipFill>
        <p:spPr>
          <a:xfrm>
            <a:off x="3045000" y="3235511"/>
            <a:ext cx="9144001" cy="374237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sp>
        <p:nvSpPr>
          <p:cNvPr id="254" name="Google Shape;254;g263fc59b3c6_0_41"/>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 name="Google Shape;255;g263fc59b3c6_0_41"/>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CA" sz="2800">
                <a:latin typeface="Arial"/>
                <a:ea typeface="Arial"/>
                <a:cs typeface="Arial"/>
                <a:sym typeface="Arial"/>
              </a:rPr>
              <a:t>Forward process </a:t>
            </a:r>
            <a:endParaRPr sz="3000">
              <a:latin typeface="Poppins"/>
              <a:ea typeface="Poppins"/>
              <a:cs typeface="Poppins"/>
              <a:sym typeface="Poppins"/>
            </a:endParaRPr>
          </a:p>
        </p:txBody>
      </p:sp>
      <p:sp>
        <p:nvSpPr>
          <p:cNvPr id="256" name="Google Shape;256;g263fc59b3c6_0_41"/>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57" name="Google Shape;257;g263fc59b3c6_0_41"/>
          <p:cNvPicPr preferRelativeResize="0"/>
          <p:nvPr/>
        </p:nvPicPr>
        <p:blipFill>
          <a:blip r:embed="rId3">
            <a:alphaModFix/>
          </a:blip>
          <a:stretch>
            <a:fillRect/>
          </a:stretch>
        </p:blipFill>
        <p:spPr>
          <a:xfrm>
            <a:off x="3060225" y="4508850"/>
            <a:ext cx="1171575" cy="1266825"/>
          </a:xfrm>
          <a:prstGeom prst="rect">
            <a:avLst/>
          </a:prstGeom>
          <a:noFill/>
          <a:ln>
            <a:noFill/>
          </a:ln>
        </p:spPr>
      </p:pic>
      <p:pic>
        <p:nvPicPr>
          <p:cNvPr id="258" name="Google Shape;258;g263fc59b3c6_0_41"/>
          <p:cNvPicPr preferRelativeResize="0"/>
          <p:nvPr/>
        </p:nvPicPr>
        <p:blipFill>
          <a:blip r:embed="rId4">
            <a:alphaModFix/>
          </a:blip>
          <a:stretch>
            <a:fillRect/>
          </a:stretch>
        </p:blipFill>
        <p:spPr>
          <a:xfrm>
            <a:off x="7120563" y="4513613"/>
            <a:ext cx="1200150" cy="1257300"/>
          </a:xfrm>
          <a:prstGeom prst="rect">
            <a:avLst/>
          </a:prstGeom>
          <a:noFill/>
          <a:ln>
            <a:noFill/>
          </a:ln>
        </p:spPr>
      </p:pic>
      <p:pic>
        <p:nvPicPr>
          <p:cNvPr id="259" name="Google Shape;259;g263fc59b3c6_0_41"/>
          <p:cNvPicPr preferRelativeResize="0"/>
          <p:nvPr/>
        </p:nvPicPr>
        <p:blipFill>
          <a:blip r:embed="rId5">
            <a:alphaModFix/>
          </a:blip>
          <a:stretch>
            <a:fillRect/>
          </a:stretch>
        </p:blipFill>
        <p:spPr>
          <a:xfrm>
            <a:off x="838200" y="2034100"/>
            <a:ext cx="5950901" cy="702725"/>
          </a:xfrm>
          <a:prstGeom prst="rect">
            <a:avLst/>
          </a:prstGeom>
          <a:noFill/>
          <a:ln>
            <a:noFill/>
          </a:ln>
        </p:spPr>
      </p:pic>
      <p:cxnSp>
        <p:nvCxnSpPr>
          <p:cNvPr id="260" name="Google Shape;260;g263fc59b3c6_0_41"/>
          <p:cNvCxnSpPr>
            <a:stCxn id="257" idx="3"/>
            <a:endCxn id="258" idx="1"/>
          </p:cNvCxnSpPr>
          <p:nvPr/>
        </p:nvCxnSpPr>
        <p:spPr>
          <a:xfrm>
            <a:off x="4231800" y="5142263"/>
            <a:ext cx="2888700" cy="0"/>
          </a:xfrm>
          <a:prstGeom prst="straightConnector1">
            <a:avLst/>
          </a:prstGeom>
          <a:noFill/>
          <a:ln cap="flat" cmpd="sng" w="9525">
            <a:solidFill>
              <a:schemeClr val="dk2"/>
            </a:solidFill>
            <a:prstDash val="solid"/>
            <a:round/>
            <a:headEnd len="med" w="med" type="none"/>
            <a:tailEnd len="med" w="med" type="triangle"/>
          </a:ln>
        </p:spPr>
      </p:cxnSp>
      <p:pic>
        <p:nvPicPr>
          <p:cNvPr id="261" name="Google Shape;261;g263fc59b3c6_0_41"/>
          <p:cNvPicPr preferRelativeResize="0"/>
          <p:nvPr/>
        </p:nvPicPr>
        <p:blipFill>
          <a:blip r:embed="rId6">
            <a:alphaModFix/>
          </a:blip>
          <a:stretch>
            <a:fillRect/>
          </a:stretch>
        </p:blipFill>
        <p:spPr>
          <a:xfrm>
            <a:off x="4721450" y="4384188"/>
            <a:ext cx="1642687" cy="602594"/>
          </a:xfrm>
          <a:prstGeom prst="rect">
            <a:avLst/>
          </a:prstGeom>
          <a:noFill/>
          <a:ln>
            <a:noFill/>
          </a:ln>
        </p:spPr>
      </p:pic>
      <p:sp>
        <p:nvSpPr>
          <p:cNvPr id="262" name="Google Shape;262;g263fc59b3c6_0_41"/>
          <p:cNvSpPr txBox="1"/>
          <p:nvPr>
            <p:ph idx="1" type="body"/>
          </p:nvPr>
        </p:nvSpPr>
        <p:spPr>
          <a:xfrm>
            <a:off x="669000" y="2877425"/>
            <a:ext cx="10854000" cy="3836700"/>
          </a:xfrm>
          <a:prstGeom prst="rect">
            <a:avLst/>
          </a:prstGeom>
          <a:noFill/>
          <a:ln>
            <a:noFill/>
          </a:ln>
        </p:spPr>
        <p:txBody>
          <a:bodyPr anchorCtr="0" anchor="t" bIns="45700" lIns="91425" spcFirstLastPara="1" rIns="91425" wrap="square" tIns="45700">
            <a:normAutofit/>
          </a:bodyPr>
          <a:lstStyle/>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 Distribution of a less noised object given by a more noised object </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 Define variance beta ranging from 0 to 1 in a schedule of time step</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 Scaling factor to mean is for avoid the variance explode</a:t>
            </a:r>
            <a:endParaRPr sz="2200">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7" name="Shape 267"/>
        <p:cNvGrpSpPr/>
        <p:nvPr/>
      </p:nvGrpSpPr>
      <p:grpSpPr>
        <a:xfrm>
          <a:off x="0" y="0"/>
          <a:ext cx="0" cy="0"/>
          <a:chOff x="0" y="0"/>
          <a:chExt cx="0" cy="0"/>
        </a:xfrm>
      </p:grpSpPr>
      <p:sp>
        <p:nvSpPr>
          <p:cNvPr id="268" name="Google Shape;268;g263fc59b3c6_0_5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g263fc59b3c6_0_56"/>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CA" sz="2800">
                <a:latin typeface="Arial"/>
                <a:ea typeface="Arial"/>
                <a:cs typeface="Arial"/>
                <a:sym typeface="Arial"/>
              </a:rPr>
              <a:t>Reverse process </a:t>
            </a:r>
            <a:endParaRPr sz="2800">
              <a:latin typeface="Arial"/>
              <a:ea typeface="Arial"/>
              <a:cs typeface="Arial"/>
              <a:sym typeface="Arial"/>
            </a:endParaRPr>
          </a:p>
        </p:txBody>
      </p:sp>
      <p:sp>
        <p:nvSpPr>
          <p:cNvPr id="270" name="Google Shape;270;g263fc59b3c6_0_56"/>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1" name="Google Shape;271;g263fc59b3c6_0_56"/>
          <p:cNvPicPr preferRelativeResize="0"/>
          <p:nvPr/>
        </p:nvPicPr>
        <p:blipFill>
          <a:blip r:embed="rId3">
            <a:alphaModFix/>
          </a:blip>
          <a:stretch>
            <a:fillRect/>
          </a:stretch>
        </p:blipFill>
        <p:spPr>
          <a:xfrm>
            <a:off x="7088450" y="4520913"/>
            <a:ext cx="1171575" cy="1266825"/>
          </a:xfrm>
          <a:prstGeom prst="rect">
            <a:avLst/>
          </a:prstGeom>
          <a:noFill/>
          <a:ln>
            <a:noFill/>
          </a:ln>
        </p:spPr>
      </p:pic>
      <p:pic>
        <p:nvPicPr>
          <p:cNvPr id="272" name="Google Shape;272;g263fc59b3c6_0_56"/>
          <p:cNvPicPr preferRelativeResize="0"/>
          <p:nvPr/>
        </p:nvPicPr>
        <p:blipFill>
          <a:blip r:embed="rId4">
            <a:alphaModFix/>
          </a:blip>
          <a:stretch>
            <a:fillRect/>
          </a:stretch>
        </p:blipFill>
        <p:spPr>
          <a:xfrm>
            <a:off x="3024413" y="4525663"/>
            <a:ext cx="1200150" cy="1257300"/>
          </a:xfrm>
          <a:prstGeom prst="rect">
            <a:avLst/>
          </a:prstGeom>
          <a:noFill/>
          <a:ln>
            <a:noFill/>
          </a:ln>
        </p:spPr>
      </p:pic>
      <p:pic>
        <p:nvPicPr>
          <p:cNvPr id="273" name="Google Shape;273;g263fc59b3c6_0_56"/>
          <p:cNvPicPr preferRelativeResize="0"/>
          <p:nvPr/>
        </p:nvPicPr>
        <p:blipFill>
          <a:blip r:embed="rId5">
            <a:alphaModFix/>
          </a:blip>
          <a:stretch>
            <a:fillRect/>
          </a:stretch>
        </p:blipFill>
        <p:spPr>
          <a:xfrm>
            <a:off x="4829000" y="4387500"/>
            <a:ext cx="1655025" cy="641744"/>
          </a:xfrm>
          <a:prstGeom prst="rect">
            <a:avLst/>
          </a:prstGeom>
          <a:noFill/>
          <a:ln>
            <a:noFill/>
          </a:ln>
        </p:spPr>
      </p:pic>
      <p:pic>
        <p:nvPicPr>
          <p:cNvPr id="274" name="Google Shape;274;g263fc59b3c6_0_56"/>
          <p:cNvPicPr preferRelativeResize="0"/>
          <p:nvPr/>
        </p:nvPicPr>
        <p:blipFill>
          <a:blip r:embed="rId6">
            <a:alphaModFix/>
          </a:blip>
          <a:stretch>
            <a:fillRect/>
          </a:stretch>
        </p:blipFill>
        <p:spPr>
          <a:xfrm>
            <a:off x="838201" y="2081587"/>
            <a:ext cx="6657882" cy="641725"/>
          </a:xfrm>
          <a:prstGeom prst="rect">
            <a:avLst/>
          </a:prstGeom>
          <a:noFill/>
          <a:ln>
            <a:noFill/>
          </a:ln>
        </p:spPr>
      </p:pic>
      <p:cxnSp>
        <p:nvCxnSpPr>
          <p:cNvPr id="275" name="Google Shape;275;g263fc59b3c6_0_56"/>
          <p:cNvCxnSpPr>
            <a:stCxn id="272" idx="3"/>
            <a:endCxn id="271" idx="1"/>
          </p:cNvCxnSpPr>
          <p:nvPr/>
        </p:nvCxnSpPr>
        <p:spPr>
          <a:xfrm>
            <a:off x="4224563" y="5154313"/>
            <a:ext cx="2863800" cy="0"/>
          </a:xfrm>
          <a:prstGeom prst="straightConnector1">
            <a:avLst/>
          </a:prstGeom>
          <a:noFill/>
          <a:ln cap="flat" cmpd="sng" w="9525">
            <a:solidFill>
              <a:schemeClr val="dk2"/>
            </a:solidFill>
            <a:prstDash val="solid"/>
            <a:round/>
            <a:headEnd len="med" w="med" type="none"/>
            <a:tailEnd len="med" w="med" type="triangle"/>
          </a:ln>
        </p:spPr>
      </p:cxnSp>
      <p:sp>
        <p:nvSpPr>
          <p:cNvPr id="276" name="Google Shape;276;g263fc59b3c6_0_56"/>
          <p:cNvSpPr txBox="1"/>
          <p:nvPr>
            <p:ph idx="1" type="body"/>
          </p:nvPr>
        </p:nvSpPr>
        <p:spPr>
          <a:xfrm>
            <a:off x="667500" y="2790025"/>
            <a:ext cx="10854000" cy="3836700"/>
          </a:xfrm>
          <a:prstGeom prst="rect">
            <a:avLst/>
          </a:prstGeom>
          <a:noFill/>
          <a:ln>
            <a:noFill/>
          </a:ln>
        </p:spPr>
        <p:txBody>
          <a:bodyPr anchorCtr="0" anchor="t" bIns="45700" lIns="91425" spcFirstLastPara="1" rIns="91425" wrap="square" tIns="45700">
            <a:normAutofit/>
          </a:bodyPr>
          <a:lstStyle/>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 </a:t>
            </a:r>
            <a:r>
              <a:rPr lang="en-CA" sz="2200">
                <a:solidFill>
                  <a:srgbClr val="595959"/>
                </a:solidFill>
                <a:latin typeface="Arial"/>
                <a:ea typeface="Arial"/>
                <a:cs typeface="Arial"/>
                <a:sym typeface="Arial"/>
              </a:rPr>
              <a:t>Distribution of a more noised object given by a less noised object </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 Output approximate by a neural network with parameter theta</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 Optimize the diffusion model by doing gradient descent on the loss function to optimize the parameter theta</a:t>
            </a:r>
            <a:endParaRPr sz="2200">
              <a:solidFill>
                <a:srgbClr val="595959"/>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 name="Shape 281"/>
        <p:cNvGrpSpPr/>
        <p:nvPr/>
      </p:nvGrpSpPr>
      <p:grpSpPr>
        <a:xfrm>
          <a:off x="0" y="0"/>
          <a:ext cx="0" cy="0"/>
          <a:chOff x="0" y="0"/>
          <a:chExt cx="0" cy="0"/>
        </a:xfrm>
      </p:grpSpPr>
      <p:sp>
        <p:nvSpPr>
          <p:cNvPr id="282" name="Google Shape;282;g263fc59b3c6_0_92"/>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g263fc59b3c6_0_92"/>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CA" sz="2800">
                <a:latin typeface="Arial"/>
                <a:ea typeface="Arial"/>
                <a:cs typeface="Arial"/>
                <a:sym typeface="Arial"/>
              </a:rPr>
              <a:t>Maximum likelihood estimation</a:t>
            </a:r>
            <a:endParaRPr sz="3000">
              <a:latin typeface="Poppins"/>
              <a:ea typeface="Poppins"/>
              <a:cs typeface="Poppins"/>
              <a:sym typeface="Poppins"/>
            </a:endParaRPr>
          </a:p>
        </p:txBody>
      </p:sp>
      <p:sp>
        <p:nvSpPr>
          <p:cNvPr id="284" name="Google Shape;284;g263fc59b3c6_0_92"/>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g263fc59b3c6_0_92"/>
          <p:cNvSpPr txBox="1"/>
          <p:nvPr>
            <p:ph idx="1" type="body"/>
          </p:nvPr>
        </p:nvSpPr>
        <p:spPr>
          <a:xfrm>
            <a:off x="669000" y="2869025"/>
            <a:ext cx="10854000" cy="35253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254000" lvl="1" marL="685800" marR="0" rtl="0" algn="l">
              <a:lnSpc>
                <a:spcPct val="115000"/>
              </a:lnSpc>
              <a:spcBef>
                <a:spcPts val="1200"/>
              </a:spcBef>
              <a:spcAft>
                <a:spcPts val="0"/>
              </a:spcAft>
              <a:buSzPts val="2200"/>
              <a:buFont typeface="Roboto"/>
              <a:buChar char="•"/>
            </a:pPr>
            <a:r>
              <a:rPr lang="en-CA" sz="2200">
                <a:solidFill>
                  <a:srgbClr val="595959"/>
                </a:solidFill>
                <a:latin typeface="Arial"/>
                <a:ea typeface="Arial"/>
                <a:cs typeface="Arial"/>
                <a:sym typeface="Arial"/>
              </a:rPr>
              <a:t>The probability of x0 is hard to calculate</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x</a:t>
            </a:r>
            <a:r>
              <a:rPr lang="en-CA" sz="1500">
                <a:solidFill>
                  <a:srgbClr val="595959"/>
                </a:solidFill>
                <a:latin typeface="Arial"/>
                <a:ea typeface="Arial"/>
                <a:cs typeface="Arial"/>
                <a:sym typeface="Arial"/>
              </a:rPr>
              <a:t>0</a:t>
            </a:r>
            <a:r>
              <a:rPr lang="en-CA" sz="2200">
                <a:solidFill>
                  <a:srgbClr val="595959"/>
                </a:solidFill>
                <a:latin typeface="Arial"/>
                <a:ea typeface="Arial"/>
                <a:cs typeface="Arial"/>
                <a:sym typeface="Arial"/>
              </a:rPr>
              <a:t> depends on x</a:t>
            </a:r>
            <a:r>
              <a:rPr lang="en-CA" sz="1500">
                <a:solidFill>
                  <a:srgbClr val="595959"/>
                </a:solidFill>
                <a:latin typeface="Arial"/>
                <a:ea typeface="Arial"/>
                <a:cs typeface="Arial"/>
                <a:sym typeface="Arial"/>
              </a:rPr>
              <a:t>1</a:t>
            </a:r>
            <a:r>
              <a:rPr lang="en-CA" sz="2200">
                <a:solidFill>
                  <a:srgbClr val="595959"/>
                </a:solidFill>
                <a:latin typeface="Arial"/>
                <a:ea typeface="Arial"/>
                <a:cs typeface="Arial"/>
                <a:sym typeface="Arial"/>
              </a:rPr>
              <a:t>, x</a:t>
            </a:r>
            <a:r>
              <a:rPr lang="en-CA" sz="1500">
                <a:solidFill>
                  <a:srgbClr val="595959"/>
                </a:solidFill>
                <a:latin typeface="Arial"/>
                <a:ea typeface="Arial"/>
                <a:cs typeface="Arial"/>
                <a:sym typeface="Arial"/>
              </a:rPr>
              <a:t>2</a:t>
            </a:r>
            <a:r>
              <a:rPr lang="en-CA" sz="2200">
                <a:solidFill>
                  <a:srgbClr val="595959"/>
                </a:solidFill>
                <a:latin typeface="Arial"/>
                <a:ea typeface="Arial"/>
                <a:cs typeface="Arial"/>
                <a:sym typeface="Arial"/>
              </a:rPr>
              <a:t>, … x</a:t>
            </a:r>
            <a:r>
              <a:rPr lang="en-CA" sz="1500">
                <a:solidFill>
                  <a:srgbClr val="595959"/>
                </a:solidFill>
                <a:latin typeface="Arial"/>
                <a:ea typeface="Arial"/>
                <a:cs typeface="Arial"/>
                <a:sym typeface="Arial"/>
              </a:rPr>
              <a:t>T</a:t>
            </a:r>
            <a:endParaRPr sz="1500">
              <a:solidFill>
                <a:srgbClr val="595959"/>
              </a:solidFill>
              <a:latin typeface="Arial"/>
              <a:ea typeface="Arial"/>
              <a:cs typeface="Arial"/>
              <a:sym typeface="Arial"/>
            </a:endParaRPr>
          </a:p>
        </p:txBody>
      </p:sp>
      <p:pic>
        <p:nvPicPr>
          <p:cNvPr id="286" name="Google Shape;286;g263fc59b3c6_0_92"/>
          <p:cNvPicPr preferRelativeResize="0"/>
          <p:nvPr/>
        </p:nvPicPr>
        <p:blipFill>
          <a:blip r:embed="rId3">
            <a:alphaModFix/>
          </a:blip>
          <a:stretch>
            <a:fillRect/>
          </a:stretch>
        </p:blipFill>
        <p:spPr>
          <a:xfrm>
            <a:off x="4603838" y="2156650"/>
            <a:ext cx="2981325" cy="1000125"/>
          </a:xfrm>
          <a:prstGeom prst="rect">
            <a:avLst/>
          </a:prstGeom>
          <a:noFill/>
          <a:ln>
            <a:noFill/>
          </a:ln>
        </p:spPr>
      </p:pic>
      <p:pic>
        <p:nvPicPr>
          <p:cNvPr id="287" name="Google Shape;287;g263fc59b3c6_0_92"/>
          <p:cNvPicPr preferRelativeResize="0"/>
          <p:nvPr/>
        </p:nvPicPr>
        <p:blipFill>
          <a:blip r:embed="rId4">
            <a:alphaModFix/>
          </a:blip>
          <a:stretch>
            <a:fillRect/>
          </a:stretch>
        </p:blipFill>
        <p:spPr>
          <a:xfrm>
            <a:off x="2795588" y="4575088"/>
            <a:ext cx="6600825" cy="1057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g263fc59b3c6_0_82"/>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g263fc59b3c6_0_82"/>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CA" sz="2800">
                <a:latin typeface="Arial"/>
                <a:ea typeface="Arial"/>
                <a:cs typeface="Arial"/>
                <a:sym typeface="Arial"/>
              </a:rPr>
              <a:t>Evidence Lower Bound(ELBO) </a:t>
            </a:r>
            <a:endParaRPr sz="2800">
              <a:latin typeface="Arial"/>
              <a:ea typeface="Arial"/>
              <a:cs typeface="Arial"/>
              <a:sym typeface="Arial"/>
            </a:endParaRPr>
          </a:p>
        </p:txBody>
      </p:sp>
      <p:sp>
        <p:nvSpPr>
          <p:cNvPr id="295" name="Google Shape;295;g263fc59b3c6_0_82"/>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g263fc59b3c6_0_82"/>
          <p:cNvSpPr txBox="1"/>
          <p:nvPr>
            <p:ph idx="1" type="body"/>
          </p:nvPr>
        </p:nvSpPr>
        <p:spPr>
          <a:xfrm>
            <a:off x="718525" y="1677375"/>
            <a:ext cx="10854000" cy="24939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254000" lvl="1" marL="685800" marR="0" rtl="0" algn="l">
              <a:lnSpc>
                <a:spcPct val="115000"/>
              </a:lnSpc>
              <a:spcBef>
                <a:spcPts val="1200"/>
              </a:spcBef>
              <a:spcAft>
                <a:spcPts val="0"/>
              </a:spcAft>
              <a:buSzPts val="2200"/>
              <a:buFont typeface="Roboto"/>
              <a:buChar char="•"/>
            </a:pPr>
            <a:r>
              <a:rPr lang="en-CA" sz="2200">
                <a:solidFill>
                  <a:srgbClr val="595959"/>
                </a:solidFill>
                <a:latin typeface="Arial"/>
                <a:ea typeface="Arial"/>
                <a:cs typeface="Arial"/>
                <a:sym typeface="Arial"/>
              </a:rPr>
              <a:t>ELBO is always smaller than the evidence</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Maximize the ELBO is a proxy objective to </a:t>
            </a:r>
            <a:r>
              <a:rPr lang="en-CA" sz="2200">
                <a:solidFill>
                  <a:srgbClr val="595959"/>
                </a:solidFill>
                <a:latin typeface="Arial"/>
                <a:ea typeface="Arial"/>
                <a:cs typeface="Arial"/>
                <a:sym typeface="Arial"/>
              </a:rPr>
              <a:t>maximize </a:t>
            </a:r>
            <a:r>
              <a:rPr lang="en-CA" sz="2200">
                <a:solidFill>
                  <a:srgbClr val="595959"/>
                </a:solidFill>
                <a:latin typeface="Arial"/>
                <a:ea typeface="Arial"/>
                <a:cs typeface="Arial"/>
                <a:sym typeface="Arial"/>
              </a:rPr>
              <a:t>the </a:t>
            </a:r>
            <a:r>
              <a:rPr lang="en-CA" sz="2200">
                <a:solidFill>
                  <a:srgbClr val="595959"/>
                </a:solidFill>
                <a:latin typeface="Arial"/>
                <a:ea typeface="Arial"/>
                <a:cs typeface="Arial"/>
                <a:sym typeface="Arial"/>
              </a:rPr>
              <a:t>evidence</a:t>
            </a:r>
            <a:endParaRPr sz="2200">
              <a:solidFill>
                <a:srgbClr val="595959"/>
              </a:solidFill>
              <a:latin typeface="Arial"/>
              <a:ea typeface="Arial"/>
              <a:cs typeface="Arial"/>
              <a:sym typeface="Arial"/>
            </a:endParaRPr>
          </a:p>
        </p:txBody>
      </p:sp>
      <p:pic>
        <p:nvPicPr>
          <p:cNvPr id="297" name="Google Shape;297;g263fc59b3c6_0_82"/>
          <p:cNvPicPr preferRelativeResize="0"/>
          <p:nvPr/>
        </p:nvPicPr>
        <p:blipFill>
          <a:blip r:embed="rId3">
            <a:alphaModFix/>
          </a:blip>
          <a:stretch>
            <a:fillRect/>
          </a:stretch>
        </p:blipFill>
        <p:spPr>
          <a:xfrm>
            <a:off x="1040125" y="3331750"/>
            <a:ext cx="10210800" cy="3238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 name="Shape 302"/>
        <p:cNvGrpSpPr/>
        <p:nvPr/>
      </p:nvGrpSpPr>
      <p:grpSpPr>
        <a:xfrm>
          <a:off x="0" y="0"/>
          <a:ext cx="0" cy="0"/>
          <a:chOff x="0" y="0"/>
          <a:chExt cx="0" cy="0"/>
        </a:xfrm>
      </p:grpSpPr>
      <p:sp>
        <p:nvSpPr>
          <p:cNvPr id="303" name="Google Shape;303;g263fc59b3c6_0_111"/>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4" name="Google Shape;304;g263fc59b3c6_0_111"/>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CA" sz="2800">
                <a:latin typeface="Arial"/>
                <a:ea typeface="Arial"/>
                <a:cs typeface="Arial"/>
                <a:sym typeface="Arial"/>
              </a:rPr>
              <a:t>Evidence Lower Bound(ELBO) </a:t>
            </a:r>
            <a:endParaRPr sz="2800">
              <a:latin typeface="Arial"/>
              <a:ea typeface="Arial"/>
              <a:cs typeface="Arial"/>
              <a:sym typeface="Arial"/>
            </a:endParaRPr>
          </a:p>
        </p:txBody>
      </p:sp>
      <p:sp>
        <p:nvSpPr>
          <p:cNvPr id="305" name="Google Shape;305;g263fc59b3c6_0_111"/>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 name="Google Shape;306;g263fc59b3c6_0_111"/>
          <p:cNvSpPr txBox="1"/>
          <p:nvPr>
            <p:ph idx="1" type="body"/>
          </p:nvPr>
        </p:nvSpPr>
        <p:spPr>
          <a:xfrm>
            <a:off x="838200" y="4784000"/>
            <a:ext cx="10854000" cy="24939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254000" lvl="1" marL="685800" marR="0" rtl="0" algn="l">
              <a:lnSpc>
                <a:spcPct val="115000"/>
              </a:lnSpc>
              <a:spcBef>
                <a:spcPts val="1200"/>
              </a:spcBef>
              <a:spcAft>
                <a:spcPts val="0"/>
              </a:spcAft>
              <a:buSzPts val="2200"/>
              <a:buFont typeface="Roboto"/>
              <a:buChar char="•"/>
            </a:pPr>
            <a:r>
              <a:rPr lang="en-CA" sz="2200">
                <a:solidFill>
                  <a:srgbClr val="595959"/>
                </a:solidFill>
                <a:latin typeface="Arial"/>
                <a:ea typeface="Arial"/>
                <a:cs typeface="Arial"/>
                <a:sym typeface="Arial"/>
              </a:rPr>
              <a:t>L</a:t>
            </a:r>
            <a:r>
              <a:rPr lang="en-CA" sz="1500">
                <a:solidFill>
                  <a:srgbClr val="595959"/>
                </a:solidFill>
                <a:latin typeface="Arial"/>
                <a:ea typeface="Arial"/>
                <a:cs typeface="Arial"/>
                <a:sym typeface="Arial"/>
              </a:rPr>
              <a:t>1</a:t>
            </a:r>
            <a:r>
              <a:rPr lang="en-CA" sz="2200">
                <a:solidFill>
                  <a:srgbClr val="595959"/>
                </a:solidFill>
                <a:latin typeface="Arial"/>
                <a:ea typeface="Arial"/>
                <a:cs typeface="Arial"/>
                <a:sym typeface="Arial"/>
              </a:rPr>
              <a:t>: Reconstruction term</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L</a:t>
            </a:r>
            <a:r>
              <a:rPr lang="en-CA" sz="1500">
                <a:solidFill>
                  <a:srgbClr val="595959"/>
                </a:solidFill>
                <a:latin typeface="Arial"/>
                <a:ea typeface="Arial"/>
                <a:cs typeface="Arial"/>
                <a:sym typeface="Arial"/>
              </a:rPr>
              <a:t>t</a:t>
            </a:r>
            <a:r>
              <a:rPr lang="en-CA" sz="2200">
                <a:solidFill>
                  <a:srgbClr val="595959"/>
                </a:solidFill>
                <a:latin typeface="Arial"/>
                <a:ea typeface="Arial"/>
                <a:cs typeface="Arial"/>
                <a:sym typeface="Arial"/>
              </a:rPr>
              <a:t>: Denoising matching term</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Clr>
                <a:srgbClr val="595959"/>
              </a:buClr>
              <a:buSzPts val="2200"/>
              <a:buFont typeface="Arial"/>
              <a:buChar char="•"/>
            </a:pPr>
            <a:r>
              <a:rPr lang="en-CA" sz="2200">
                <a:solidFill>
                  <a:srgbClr val="595959"/>
                </a:solidFill>
                <a:latin typeface="Arial"/>
                <a:ea typeface="Arial"/>
                <a:cs typeface="Arial"/>
                <a:sym typeface="Arial"/>
              </a:rPr>
              <a:t>L</a:t>
            </a:r>
            <a:r>
              <a:rPr lang="en-CA" sz="1500">
                <a:solidFill>
                  <a:srgbClr val="595959"/>
                </a:solidFill>
                <a:latin typeface="Arial"/>
                <a:ea typeface="Arial"/>
                <a:cs typeface="Arial"/>
                <a:sym typeface="Arial"/>
              </a:rPr>
              <a:t>T+1</a:t>
            </a:r>
            <a:r>
              <a:rPr lang="en-CA" sz="2200">
                <a:solidFill>
                  <a:srgbClr val="595959"/>
                </a:solidFill>
                <a:latin typeface="Arial"/>
                <a:ea typeface="Arial"/>
                <a:cs typeface="Arial"/>
                <a:sym typeface="Arial"/>
              </a:rPr>
              <a:t>: Prior matching term</a:t>
            </a:r>
            <a:endParaRPr sz="2200">
              <a:solidFill>
                <a:srgbClr val="595959"/>
              </a:solidFill>
              <a:latin typeface="Arial"/>
              <a:ea typeface="Arial"/>
              <a:cs typeface="Arial"/>
              <a:sym typeface="Arial"/>
            </a:endParaRPr>
          </a:p>
        </p:txBody>
      </p:sp>
      <p:pic>
        <p:nvPicPr>
          <p:cNvPr id="307" name="Google Shape;307;g263fc59b3c6_0_111"/>
          <p:cNvPicPr preferRelativeResize="0"/>
          <p:nvPr/>
        </p:nvPicPr>
        <p:blipFill>
          <a:blip r:embed="rId3">
            <a:alphaModFix/>
          </a:blip>
          <a:stretch>
            <a:fillRect/>
          </a:stretch>
        </p:blipFill>
        <p:spPr>
          <a:xfrm>
            <a:off x="2831038" y="1738313"/>
            <a:ext cx="6067425" cy="3381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g263fc59b3c6_0_143"/>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g263fc59b3c6_0_143"/>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1200"/>
              </a:spcAft>
              <a:buNone/>
            </a:pPr>
            <a:r>
              <a:rPr lang="en-CA" sz="2800">
                <a:latin typeface="Arial"/>
                <a:ea typeface="Arial"/>
                <a:cs typeface="Arial"/>
                <a:sym typeface="Arial"/>
              </a:rPr>
              <a:t>Reconstruction term</a:t>
            </a:r>
            <a:endParaRPr sz="2800">
              <a:latin typeface="Arial"/>
              <a:ea typeface="Arial"/>
              <a:cs typeface="Arial"/>
              <a:sym typeface="Arial"/>
            </a:endParaRPr>
          </a:p>
        </p:txBody>
      </p:sp>
      <p:sp>
        <p:nvSpPr>
          <p:cNvPr id="315" name="Google Shape;315;g263fc59b3c6_0_143"/>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g263fc59b3c6_0_143"/>
          <p:cNvSpPr txBox="1"/>
          <p:nvPr>
            <p:ph idx="1" type="body"/>
          </p:nvPr>
        </p:nvSpPr>
        <p:spPr>
          <a:xfrm>
            <a:off x="669000" y="2869025"/>
            <a:ext cx="10854000" cy="35253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254000" lvl="1" marL="685800" rtl="0" algn="l">
              <a:lnSpc>
                <a:spcPct val="115000"/>
              </a:lnSpc>
              <a:spcBef>
                <a:spcPts val="1200"/>
              </a:spcBef>
              <a:spcAft>
                <a:spcPts val="0"/>
              </a:spcAft>
              <a:buSzPts val="2200"/>
              <a:buFont typeface="Roboto"/>
              <a:buChar char="•"/>
            </a:pPr>
            <a:r>
              <a:rPr lang="en-CA" sz="1800">
                <a:solidFill>
                  <a:srgbClr val="595959"/>
                </a:solidFill>
                <a:latin typeface="Arial"/>
                <a:ea typeface="Arial"/>
                <a:cs typeface="Arial"/>
                <a:sym typeface="Arial"/>
              </a:rPr>
              <a:t>Predict the log probability of the original data sample given the first-step noised object. </a:t>
            </a:r>
            <a:endParaRPr sz="2200">
              <a:solidFill>
                <a:srgbClr val="595959"/>
              </a:solidFill>
              <a:latin typeface="Arial"/>
              <a:ea typeface="Arial"/>
              <a:cs typeface="Arial"/>
              <a:sym typeface="Arial"/>
            </a:endParaRPr>
          </a:p>
          <a:p>
            <a:pPr indent="-254000" lvl="1" marL="685800" rtl="0" algn="l">
              <a:lnSpc>
                <a:spcPct val="115000"/>
              </a:lnSpc>
              <a:spcBef>
                <a:spcPts val="0"/>
              </a:spcBef>
              <a:spcAft>
                <a:spcPts val="0"/>
              </a:spcAft>
              <a:buSzPts val="2200"/>
              <a:buFont typeface="Roboto"/>
              <a:buChar char="•"/>
            </a:pPr>
            <a:r>
              <a:rPr lang="en-CA" sz="1800">
                <a:solidFill>
                  <a:srgbClr val="595959"/>
                </a:solidFill>
                <a:latin typeface="Arial"/>
                <a:ea typeface="Arial"/>
                <a:cs typeface="Arial"/>
                <a:sym typeface="Arial"/>
              </a:rPr>
              <a:t>It can be approximated and optimized using a Monte Carlo estimate. </a:t>
            </a:r>
            <a:endParaRPr sz="2200">
              <a:solidFill>
                <a:srgbClr val="595959"/>
              </a:solidFill>
              <a:latin typeface="Arial"/>
              <a:ea typeface="Arial"/>
              <a:cs typeface="Arial"/>
              <a:sym typeface="Arial"/>
            </a:endParaRPr>
          </a:p>
        </p:txBody>
      </p:sp>
      <p:pic>
        <p:nvPicPr>
          <p:cNvPr id="317" name="Google Shape;317;g263fc59b3c6_0_143"/>
          <p:cNvPicPr preferRelativeResize="0"/>
          <p:nvPr/>
        </p:nvPicPr>
        <p:blipFill>
          <a:blip r:embed="rId3">
            <a:alphaModFix/>
          </a:blip>
          <a:stretch>
            <a:fillRect/>
          </a:stretch>
        </p:blipFill>
        <p:spPr>
          <a:xfrm>
            <a:off x="4332375" y="2268938"/>
            <a:ext cx="3524250" cy="6000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sp>
        <p:nvSpPr>
          <p:cNvPr id="323" name="Google Shape;323;g263fc59b3c6_0_132"/>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g263fc59b3c6_0_132"/>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15000"/>
              </a:lnSpc>
              <a:spcBef>
                <a:spcPts val="0"/>
              </a:spcBef>
              <a:spcAft>
                <a:spcPts val="1200"/>
              </a:spcAft>
              <a:buNone/>
            </a:pPr>
            <a:r>
              <a:rPr lang="en-CA" sz="2800">
                <a:latin typeface="Arial"/>
                <a:ea typeface="Arial"/>
                <a:cs typeface="Arial"/>
                <a:sym typeface="Arial"/>
              </a:rPr>
              <a:t>Prior matching term</a:t>
            </a:r>
            <a:endParaRPr sz="2800">
              <a:latin typeface="Arial"/>
              <a:ea typeface="Arial"/>
              <a:cs typeface="Arial"/>
              <a:sym typeface="Arial"/>
            </a:endParaRPr>
          </a:p>
        </p:txBody>
      </p:sp>
      <p:sp>
        <p:nvSpPr>
          <p:cNvPr id="325" name="Google Shape;325;g263fc59b3c6_0_132"/>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g263fc59b3c6_0_132"/>
          <p:cNvSpPr txBox="1"/>
          <p:nvPr>
            <p:ph idx="1" type="body"/>
          </p:nvPr>
        </p:nvSpPr>
        <p:spPr>
          <a:xfrm>
            <a:off x="669000" y="2869025"/>
            <a:ext cx="10854000" cy="35253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254000" lvl="1" marL="685800" marR="0" rtl="0" algn="l">
              <a:lnSpc>
                <a:spcPct val="115000"/>
              </a:lnSpc>
              <a:spcBef>
                <a:spcPts val="1200"/>
              </a:spcBef>
              <a:spcAft>
                <a:spcPts val="0"/>
              </a:spcAft>
              <a:buSzPts val="2200"/>
              <a:buFont typeface="Roboto"/>
              <a:buChar char="•"/>
            </a:pPr>
            <a:r>
              <a:rPr lang="en-CA" sz="2200">
                <a:solidFill>
                  <a:srgbClr val="595959"/>
                </a:solidFill>
                <a:latin typeface="Arial"/>
                <a:ea typeface="Arial"/>
                <a:cs typeface="Arial"/>
                <a:sym typeface="Arial"/>
              </a:rPr>
              <a:t>The KL divergence between two distribution</a:t>
            </a:r>
            <a:endParaRPr sz="2200">
              <a:solidFill>
                <a:srgbClr val="595959"/>
              </a:solidFill>
              <a:latin typeface="Arial"/>
              <a:ea typeface="Arial"/>
              <a:cs typeface="Arial"/>
              <a:sym typeface="Arial"/>
            </a:endParaRPr>
          </a:p>
          <a:p>
            <a:pPr indent="-254000" lvl="1" marL="68580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Represents how close the distribution of the final noisified input is to the standard Gaussian prior</a:t>
            </a:r>
            <a:endParaRPr sz="15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It is equal to zero(two distributions are the same) if we learn a perfect model</a:t>
            </a:r>
            <a:endParaRPr sz="2200">
              <a:solidFill>
                <a:srgbClr val="595959"/>
              </a:solidFill>
              <a:latin typeface="Arial"/>
              <a:ea typeface="Arial"/>
              <a:cs typeface="Arial"/>
              <a:sym typeface="Arial"/>
            </a:endParaRPr>
          </a:p>
        </p:txBody>
      </p:sp>
      <p:pic>
        <p:nvPicPr>
          <p:cNvPr id="327" name="Google Shape;327;g263fc59b3c6_0_132"/>
          <p:cNvPicPr preferRelativeResize="0"/>
          <p:nvPr/>
        </p:nvPicPr>
        <p:blipFill>
          <a:blip r:embed="rId3">
            <a:alphaModFix/>
          </a:blip>
          <a:stretch>
            <a:fillRect/>
          </a:stretch>
        </p:blipFill>
        <p:spPr>
          <a:xfrm>
            <a:off x="3448050" y="2316575"/>
            <a:ext cx="5295900" cy="552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2" name="Shape 332"/>
        <p:cNvGrpSpPr/>
        <p:nvPr/>
      </p:nvGrpSpPr>
      <p:grpSpPr>
        <a:xfrm>
          <a:off x="0" y="0"/>
          <a:ext cx="0" cy="0"/>
          <a:chOff x="0" y="0"/>
          <a:chExt cx="0" cy="0"/>
        </a:xfrm>
      </p:grpSpPr>
      <p:sp>
        <p:nvSpPr>
          <p:cNvPr id="333" name="Google Shape;333;g263fc59b3c6_0_165"/>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4" name="Google Shape;334;g263fc59b3c6_0_165"/>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15000"/>
              </a:lnSpc>
              <a:spcBef>
                <a:spcPts val="0"/>
              </a:spcBef>
              <a:spcAft>
                <a:spcPts val="1200"/>
              </a:spcAft>
              <a:buNone/>
            </a:pPr>
            <a:r>
              <a:rPr lang="en-CA" sz="2800">
                <a:latin typeface="Arial"/>
                <a:ea typeface="Arial"/>
                <a:cs typeface="Arial"/>
                <a:sym typeface="Arial"/>
              </a:rPr>
              <a:t>Rewrite forward process</a:t>
            </a:r>
            <a:endParaRPr sz="2800">
              <a:latin typeface="Arial"/>
              <a:ea typeface="Arial"/>
              <a:cs typeface="Arial"/>
              <a:sym typeface="Arial"/>
            </a:endParaRPr>
          </a:p>
        </p:txBody>
      </p:sp>
      <p:sp>
        <p:nvSpPr>
          <p:cNvPr id="335" name="Google Shape;335;g263fc59b3c6_0_165"/>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 name="Google Shape;336;g263fc59b3c6_0_165"/>
          <p:cNvSpPr txBox="1"/>
          <p:nvPr>
            <p:ph idx="1" type="body"/>
          </p:nvPr>
        </p:nvSpPr>
        <p:spPr>
          <a:xfrm>
            <a:off x="3380725" y="3150113"/>
            <a:ext cx="1810200" cy="6960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1200"/>
              </a:spcAft>
              <a:buNone/>
            </a:pPr>
            <a:r>
              <a:rPr lang="en-CA" sz="2200">
                <a:solidFill>
                  <a:srgbClr val="595959"/>
                </a:solidFill>
                <a:latin typeface="Arial"/>
                <a:ea typeface="Arial"/>
                <a:cs typeface="Arial"/>
                <a:sym typeface="Arial"/>
              </a:rPr>
              <a:t>Define:</a:t>
            </a:r>
            <a:endParaRPr sz="2200">
              <a:solidFill>
                <a:srgbClr val="595959"/>
              </a:solidFill>
              <a:latin typeface="Arial"/>
              <a:ea typeface="Arial"/>
              <a:cs typeface="Arial"/>
              <a:sym typeface="Arial"/>
            </a:endParaRPr>
          </a:p>
        </p:txBody>
      </p:sp>
      <p:pic>
        <p:nvPicPr>
          <p:cNvPr id="337" name="Google Shape;337;g263fc59b3c6_0_165"/>
          <p:cNvPicPr preferRelativeResize="0"/>
          <p:nvPr/>
        </p:nvPicPr>
        <p:blipFill>
          <a:blip r:embed="rId3">
            <a:alphaModFix/>
          </a:blip>
          <a:stretch>
            <a:fillRect/>
          </a:stretch>
        </p:blipFill>
        <p:spPr>
          <a:xfrm>
            <a:off x="3694200" y="2185438"/>
            <a:ext cx="4800600" cy="581025"/>
          </a:xfrm>
          <a:prstGeom prst="rect">
            <a:avLst/>
          </a:prstGeom>
          <a:noFill/>
          <a:ln>
            <a:noFill/>
          </a:ln>
        </p:spPr>
      </p:pic>
      <p:pic>
        <p:nvPicPr>
          <p:cNvPr id="338" name="Google Shape;338;g263fc59b3c6_0_165"/>
          <p:cNvPicPr preferRelativeResize="0"/>
          <p:nvPr/>
        </p:nvPicPr>
        <p:blipFill>
          <a:blip r:embed="rId4">
            <a:alphaModFix/>
          </a:blip>
          <a:stretch>
            <a:fillRect/>
          </a:stretch>
        </p:blipFill>
        <p:spPr>
          <a:xfrm>
            <a:off x="5190925" y="3352197"/>
            <a:ext cx="1810125" cy="1554500"/>
          </a:xfrm>
          <a:prstGeom prst="rect">
            <a:avLst/>
          </a:prstGeom>
          <a:noFill/>
          <a:ln>
            <a:noFill/>
          </a:ln>
        </p:spPr>
      </p:pic>
      <p:pic>
        <p:nvPicPr>
          <p:cNvPr id="339" name="Google Shape;339;g263fc59b3c6_0_165"/>
          <p:cNvPicPr preferRelativeResize="0"/>
          <p:nvPr/>
        </p:nvPicPr>
        <p:blipFill>
          <a:blip r:embed="rId5">
            <a:alphaModFix/>
          </a:blip>
          <a:stretch>
            <a:fillRect/>
          </a:stretch>
        </p:blipFill>
        <p:spPr>
          <a:xfrm>
            <a:off x="3694200" y="5204650"/>
            <a:ext cx="5435624" cy="572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g263fc59b3c6_0_177"/>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g263fc59b3c6_0_177"/>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15000"/>
              </a:lnSpc>
              <a:spcBef>
                <a:spcPts val="0"/>
              </a:spcBef>
              <a:spcAft>
                <a:spcPts val="1200"/>
              </a:spcAft>
              <a:buNone/>
            </a:pPr>
            <a:r>
              <a:rPr lang="en-CA" sz="2800">
                <a:latin typeface="Arial"/>
                <a:ea typeface="Arial"/>
                <a:cs typeface="Arial"/>
                <a:sym typeface="Arial"/>
              </a:rPr>
              <a:t>Sample object from</a:t>
            </a:r>
            <a:r>
              <a:rPr lang="en-CA" sz="2800">
                <a:latin typeface="Arial"/>
                <a:ea typeface="Arial"/>
                <a:cs typeface="Arial"/>
                <a:sym typeface="Arial"/>
              </a:rPr>
              <a:t> forward process</a:t>
            </a:r>
            <a:endParaRPr sz="2800">
              <a:latin typeface="Arial"/>
              <a:ea typeface="Arial"/>
              <a:cs typeface="Arial"/>
              <a:sym typeface="Arial"/>
            </a:endParaRPr>
          </a:p>
        </p:txBody>
      </p:sp>
      <p:sp>
        <p:nvSpPr>
          <p:cNvPr id="347" name="Google Shape;347;g263fc59b3c6_0_177"/>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 name="Google Shape;348;g263fc59b3c6_0_177"/>
          <p:cNvSpPr txBox="1"/>
          <p:nvPr>
            <p:ph idx="1" type="body"/>
          </p:nvPr>
        </p:nvSpPr>
        <p:spPr>
          <a:xfrm>
            <a:off x="122225" y="2764050"/>
            <a:ext cx="3168600" cy="6960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1200"/>
              </a:spcAft>
              <a:buNone/>
            </a:pPr>
            <a:r>
              <a:rPr lang="en-CA" sz="1688">
                <a:latin typeface="Arial"/>
                <a:ea typeface="Arial"/>
                <a:cs typeface="Arial"/>
                <a:sym typeface="Arial"/>
              </a:rPr>
              <a:t>reparameterization trick</a:t>
            </a:r>
            <a:r>
              <a:rPr lang="en-CA" sz="2200">
                <a:solidFill>
                  <a:srgbClr val="595959"/>
                </a:solidFill>
                <a:latin typeface="Arial"/>
                <a:ea typeface="Arial"/>
                <a:cs typeface="Arial"/>
                <a:sym typeface="Arial"/>
              </a:rPr>
              <a:t>:</a:t>
            </a:r>
            <a:endParaRPr sz="2200">
              <a:solidFill>
                <a:srgbClr val="595959"/>
              </a:solidFill>
              <a:latin typeface="Arial"/>
              <a:ea typeface="Arial"/>
              <a:cs typeface="Arial"/>
              <a:sym typeface="Arial"/>
            </a:endParaRPr>
          </a:p>
        </p:txBody>
      </p:sp>
      <p:pic>
        <p:nvPicPr>
          <p:cNvPr id="349" name="Google Shape;349;g263fc59b3c6_0_177"/>
          <p:cNvPicPr preferRelativeResize="0"/>
          <p:nvPr/>
        </p:nvPicPr>
        <p:blipFill>
          <a:blip r:embed="rId3">
            <a:alphaModFix/>
          </a:blip>
          <a:stretch>
            <a:fillRect/>
          </a:stretch>
        </p:blipFill>
        <p:spPr>
          <a:xfrm>
            <a:off x="3378188" y="2039425"/>
            <a:ext cx="5435624" cy="572700"/>
          </a:xfrm>
          <a:prstGeom prst="rect">
            <a:avLst/>
          </a:prstGeom>
          <a:noFill/>
          <a:ln>
            <a:noFill/>
          </a:ln>
        </p:spPr>
      </p:pic>
      <p:pic>
        <p:nvPicPr>
          <p:cNvPr id="350" name="Google Shape;350;g263fc59b3c6_0_177"/>
          <p:cNvPicPr preferRelativeResize="0"/>
          <p:nvPr/>
        </p:nvPicPr>
        <p:blipFill>
          <a:blip r:embed="rId4">
            <a:alphaModFix/>
          </a:blip>
          <a:stretch>
            <a:fillRect/>
          </a:stretch>
        </p:blipFill>
        <p:spPr>
          <a:xfrm>
            <a:off x="525147" y="3237403"/>
            <a:ext cx="2362755" cy="696000"/>
          </a:xfrm>
          <a:prstGeom prst="rect">
            <a:avLst/>
          </a:prstGeom>
          <a:noFill/>
          <a:ln>
            <a:noFill/>
          </a:ln>
        </p:spPr>
      </p:pic>
      <p:pic>
        <p:nvPicPr>
          <p:cNvPr id="351" name="Google Shape;351;g263fc59b3c6_0_177"/>
          <p:cNvPicPr preferRelativeResize="0"/>
          <p:nvPr/>
        </p:nvPicPr>
        <p:blipFill>
          <a:blip r:embed="rId5">
            <a:alphaModFix/>
          </a:blip>
          <a:stretch>
            <a:fillRect/>
          </a:stretch>
        </p:blipFill>
        <p:spPr>
          <a:xfrm>
            <a:off x="3848100" y="5576913"/>
            <a:ext cx="4495800" cy="657225"/>
          </a:xfrm>
          <a:prstGeom prst="rect">
            <a:avLst/>
          </a:prstGeom>
          <a:noFill/>
          <a:ln>
            <a:noFill/>
          </a:ln>
        </p:spPr>
      </p:pic>
      <p:pic>
        <p:nvPicPr>
          <p:cNvPr id="352" name="Google Shape;352;g263fc59b3c6_0_177"/>
          <p:cNvPicPr preferRelativeResize="0"/>
          <p:nvPr/>
        </p:nvPicPr>
        <p:blipFill>
          <a:blip r:embed="rId6">
            <a:alphaModFix/>
          </a:blip>
          <a:stretch>
            <a:fillRect/>
          </a:stretch>
        </p:blipFill>
        <p:spPr>
          <a:xfrm>
            <a:off x="3784600" y="2889600"/>
            <a:ext cx="5029200" cy="2409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7" name="Shape 357"/>
        <p:cNvGrpSpPr/>
        <p:nvPr/>
      </p:nvGrpSpPr>
      <p:grpSpPr>
        <a:xfrm>
          <a:off x="0" y="0"/>
          <a:ext cx="0" cy="0"/>
          <a:chOff x="0" y="0"/>
          <a:chExt cx="0" cy="0"/>
        </a:xfrm>
      </p:grpSpPr>
      <p:sp>
        <p:nvSpPr>
          <p:cNvPr id="358" name="Google Shape;358;g263fc59b3c6_0_152"/>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g263fc59b3c6_0_152"/>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15000"/>
              </a:lnSpc>
              <a:spcBef>
                <a:spcPts val="0"/>
              </a:spcBef>
              <a:spcAft>
                <a:spcPts val="1200"/>
              </a:spcAft>
              <a:buNone/>
            </a:pPr>
            <a:r>
              <a:rPr lang="en-CA" sz="2800">
                <a:latin typeface="Arial"/>
                <a:ea typeface="Arial"/>
                <a:cs typeface="Arial"/>
                <a:sym typeface="Arial"/>
              </a:rPr>
              <a:t>Denoising matching term</a:t>
            </a:r>
            <a:endParaRPr sz="2800">
              <a:latin typeface="Arial"/>
              <a:ea typeface="Arial"/>
              <a:cs typeface="Arial"/>
              <a:sym typeface="Arial"/>
            </a:endParaRPr>
          </a:p>
        </p:txBody>
      </p:sp>
      <p:sp>
        <p:nvSpPr>
          <p:cNvPr id="360" name="Google Shape;360;g263fc59b3c6_0_152"/>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 name="Google Shape;361;g263fc59b3c6_0_152"/>
          <p:cNvSpPr txBox="1"/>
          <p:nvPr>
            <p:ph idx="1" type="body"/>
          </p:nvPr>
        </p:nvSpPr>
        <p:spPr>
          <a:xfrm>
            <a:off x="669000" y="2869025"/>
            <a:ext cx="10854000" cy="35253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254000" lvl="1" marL="685800" rtl="0" algn="l">
              <a:lnSpc>
                <a:spcPct val="115000"/>
              </a:lnSpc>
              <a:spcBef>
                <a:spcPts val="1200"/>
              </a:spcBef>
              <a:spcAft>
                <a:spcPts val="0"/>
              </a:spcAft>
              <a:buSzPts val="2200"/>
              <a:buFont typeface="Roboto"/>
              <a:buChar char="•"/>
            </a:pPr>
            <a:r>
              <a:rPr lang="en-CA" sz="2200">
                <a:solidFill>
                  <a:srgbClr val="595959"/>
                </a:solidFill>
                <a:latin typeface="Arial"/>
                <a:ea typeface="Arial"/>
                <a:cs typeface="Arial"/>
                <a:sym typeface="Arial"/>
              </a:rPr>
              <a:t>Use the neural network to learn the reverse diffusion process pθ to approximate the ground-truth denoising process q</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This term is minimized when the two distributions match as closely as possible, as measured by their KL Divergence.</a:t>
            </a:r>
            <a:endParaRPr sz="2200">
              <a:solidFill>
                <a:srgbClr val="595959"/>
              </a:solidFill>
              <a:latin typeface="Arial"/>
              <a:ea typeface="Arial"/>
              <a:cs typeface="Arial"/>
              <a:sym typeface="Arial"/>
            </a:endParaRPr>
          </a:p>
          <a:p>
            <a:pPr indent="0" lvl="0" marL="0" marR="0" rtl="0" algn="l">
              <a:lnSpc>
                <a:spcPct val="115000"/>
              </a:lnSpc>
              <a:spcBef>
                <a:spcPts val="1200"/>
              </a:spcBef>
              <a:spcAft>
                <a:spcPts val="1200"/>
              </a:spcAft>
              <a:buNone/>
            </a:pPr>
            <a:r>
              <a:t/>
            </a:r>
            <a:endParaRPr sz="2200">
              <a:solidFill>
                <a:srgbClr val="595959"/>
              </a:solidFill>
              <a:latin typeface="Arial"/>
              <a:ea typeface="Arial"/>
              <a:cs typeface="Arial"/>
              <a:sym typeface="Arial"/>
            </a:endParaRPr>
          </a:p>
        </p:txBody>
      </p:sp>
      <p:pic>
        <p:nvPicPr>
          <p:cNvPr id="362" name="Google Shape;362;g263fc59b3c6_0_152"/>
          <p:cNvPicPr preferRelativeResize="0"/>
          <p:nvPr/>
        </p:nvPicPr>
        <p:blipFill>
          <a:blip r:embed="rId3">
            <a:alphaModFix/>
          </a:blip>
          <a:stretch>
            <a:fillRect/>
          </a:stretch>
        </p:blipFill>
        <p:spPr>
          <a:xfrm>
            <a:off x="2776525" y="2240375"/>
            <a:ext cx="6638925" cy="628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7" name="Shape 367"/>
        <p:cNvGrpSpPr/>
        <p:nvPr/>
      </p:nvGrpSpPr>
      <p:grpSpPr>
        <a:xfrm>
          <a:off x="0" y="0"/>
          <a:ext cx="0" cy="0"/>
          <a:chOff x="0" y="0"/>
          <a:chExt cx="0" cy="0"/>
        </a:xfrm>
      </p:grpSpPr>
      <p:sp>
        <p:nvSpPr>
          <p:cNvPr id="368" name="Google Shape;368;g263fc59b3c6_0_192"/>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 name="Google Shape;369;g263fc59b3c6_0_192"/>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marR="0" rtl="0" algn="l">
              <a:lnSpc>
                <a:spcPct val="115000"/>
              </a:lnSpc>
              <a:spcBef>
                <a:spcPts val="0"/>
              </a:spcBef>
              <a:spcAft>
                <a:spcPts val="1200"/>
              </a:spcAft>
              <a:buNone/>
            </a:pPr>
            <a:r>
              <a:rPr lang="en-CA" sz="2800">
                <a:latin typeface="Arial"/>
                <a:ea typeface="Arial"/>
                <a:cs typeface="Arial"/>
                <a:sym typeface="Arial"/>
              </a:rPr>
              <a:t>G</a:t>
            </a:r>
            <a:r>
              <a:rPr lang="en-CA" sz="2800">
                <a:latin typeface="Arial"/>
                <a:ea typeface="Arial"/>
                <a:cs typeface="Arial"/>
                <a:sym typeface="Arial"/>
              </a:rPr>
              <a:t>round-truth denoising process</a:t>
            </a:r>
            <a:endParaRPr sz="2800">
              <a:latin typeface="Arial"/>
              <a:ea typeface="Arial"/>
              <a:cs typeface="Arial"/>
              <a:sym typeface="Arial"/>
            </a:endParaRPr>
          </a:p>
        </p:txBody>
      </p:sp>
      <p:sp>
        <p:nvSpPr>
          <p:cNvPr id="370" name="Google Shape;370;g263fc59b3c6_0_192"/>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1" name="Google Shape;371;g263fc59b3c6_0_192"/>
          <p:cNvSpPr txBox="1"/>
          <p:nvPr>
            <p:ph idx="1" type="body"/>
          </p:nvPr>
        </p:nvSpPr>
        <p:spPr>
          <a:xfrm>
            <a:off x="669000" y="4412250"/>
            <a:ext cx="10854000" cy="22779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254000" lvl="1" marL="685800" rtl="0" algn="l">
              <a:lnSpc>
                <a:spcPct val="115000"/>
              </a:lnSpc>
              <a:spcBef>
                <a:spcPts val="1200"/>
              </a:spcBef>
              <a:spcAft>
                <a:spcPts val="0"/>
              </a:spcAft>
              <a:buSzPts val="2200"/>
              <a:buFont typeface="Roboto"/>
              <a:buChar char="•"/>
            </a:pPr>
            <a:r>
              <a:rPr lang="en-CA" sz="2200">
                <a:solidFill>
                  <a:srgbClr val="595959"/>
                </a:solidFill>
                <a:latin typeface="Arial"/>
                <a:ea typeface="Arial"/>
                <a:cs typeface="Arial"/>
                <a:sym typeface="Arial"/>
              </a:rPr>
              <a:t>Mean is a formula of xt and x0</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Variance is </a:t>
            </a:r>
            <a:r>
              <a:rPr lang="en-CA" sz="2200">
                <a:solidFill>
                  <a:srgbClr val="595959"/>
                </a:solidFill>
                <a:latin typeface="Arial"/>
                <a:ea typeface="Arial"/>
                <a:cs typeface="Arial"/>
                <a:sym typeface="Arial"/>
              </a:rPr>
              <a:t>irrelevant</a:t>
            </a:r>
            <a:r>
              <a:rPr lang="en-CA" sz="2200">
                <a:solidFill>
                  <a:srgbClr val="595959"/>
                </a:solidFill>
                <a:latin typeface="Arial"/>
                <a:ea typeface="Arial"/>
                <a:cs typeface="Arial"/>
                <a:sym typeface="Arial"/>
              </a:rPr>
              <a:t> to object x</a:t>
            </a:r>
            <a:endParaRPr sz="2200">
              <a:solidFill>
                <a:srgbClr val="595959"/>
              </a:solidFill>
              <a:latin typeface="Arial"/>
              <a:ea typeface="Arial"/>
              <a:cs typeface="Arial"/>
              <a:sym typeface="Arial"/>
            </a:endParaRPr>
          </a:p>
          <a:p>
            <a:pPr indent="0" lvl="0" marL="0" marR="0" rtl="0" algn="l">
              <a:lnSpc>
                <a:spcPct val="115000"/>
              </a:lnSpc>
              <a:spcBef>
                <a:spcPts val="1200"/>
              </a:spcBef>
              <a:spcAft>
                <a:spcPts val="1200"/>
              </a:spcAft>
              <a:buNone/>
            </a:pPr>
            <a:r>
              <a:t/>
            </a:r>
            <a:endParaRPr sz="2200">
              <a:solidFill>
                <a:srgbClr val="595959"/>
              </a:solidFill>
              <a:latin typeface="Arial"/>
              <a:ea typeface="Arial"/>
              <a:cs typeface="Arial"/>
              <a:sym typeface="Arial"/>
            </a:endParaRPr>
          </a:p>
        </p:txBody>
      </p:sp>
      <p:pic>
        <p:nvPicPr>
          <p:cNvPr id="372" name="Google Shape;372;g263fc59b3c6_0_192"/>
          <p:cNvPicPr preferRelativeResize="0"/>
          <p:nvPr/>
        </p:nvPicPr>
        <p:blipFill>
          <a:blip r:embed="rId3">
            <a:alphaModFix/>
          </a:blip>
          <a:stretch>
            <a:fillRect/>
          </a:stretch>
        </p:blipFill>
        <p:spPr>
          <a:xfrm>
            <a:off x="1127000" y="2005651"/>
            <a:ext cx="9144001" cy="257444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 name="Shape 377"/>
        <p:cNvGrpSpPr/>
        <p:nvPr/>
      </p:nvGrpSpPr>
      <p:grpSpPr>
        <a:xfrm>
          <a:off x="0" y="0"/>
          <a:ext cx="0" cy="0"/>
          <a:chOff x="0" y="0"/>
          <a:chExt cx="0" cy="0"/>
        </a:xfrm>
      </p:grpSpPr>
      <p:sp>
        <p:nvSpPr>
          <p:cNvPr id="378" name="Google Shape;378;g263fc59b3c6_0_208"/>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g263fc59b3c6_0_208"/>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CA" sz="2800">
                <a:latin typeface="Arial"/>
                <a:ea typeface="Arial"/>
                <a:cs typeface="Arial"/>
                <a:sym typeface="Arial"/>
              </a:rPr>
              <a:t>Loss function</a:t>
            </a:r>
            <a:endParaRPr sz="2800">
              <a:latin typeface="Arial"/>
              <a:ea typeface="Arial"/>
              <a:cs typeface="Arial"/>
              <a:sym typeface="Arial"/>
            </a:endParaRPr>
          </a:p>
        </p:txBody>
      </p:sp>
      <p:sp>
        <p:nvSpPr>
          <p:cNvPr id="380" name="Google Shape;380;g263fc59b3c6_0_208"/>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g263fc59b3c6_0_208"/>
          <p:cNvSpPr txBox="1"/>
          <p:nvPr>
            <p:ph idx="1" type="body"/>
          </p:nvPr>
        </p:nvSpPr>
        <p:spPr>
          <a:xfrm>
            <a:off x="669000" y="4412250"/>
            <a:ext cx="10854000" cy="22779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457200" lvl="0" marL="0" marR="0" rtl="0" algn="l">
              <a:lnSpc>
                <a:spcPct val="115000"/>
              </a:lnSpc>
              <a:spcBef>
                <a:spcPts val="1200"/>
              </a:spcBef>
              <a:spcAft>
                <a:spcPts val="1200"/>
              </a:spcAft>
              <a:buNone/>
            </a:pPr>
            <a:r>
              <a:rPr lang="en-CA" sz="2200">
                <a:solidFill>
                  <a:srgbClr val="595959"/>
                </a:solidFill>
                <a:latin typeface="Arial"/>
                <a:ea typeface="Arial"/>
                <a:cs typeface="Arial"/>
                <a:sym typeface="Arial"/>
              </a:rPr>
              <a:t>mean squared error between the actual mean and predicted mean of denoising process</a:t>
            </a:r>
            <a:endParaRPr sz="2200">
              <a:solidFill>
                <a:srgbClr val="595959"/>
              </a:solidFill>
              <a:latin typeface="Arial"/>
              <a:ea typeface="Arial"/>
              <a:cs typeface="Arial"/>
              <a:sym typeface="Arial"/>
            </a:endParaRPr>
          </a:p>
        </p:txBody>
      </p:sp>
      <p:pic>
        <p:nvPicPr>
          <p:cNvPr id="382" name="Google Shape;382;g263fc59b3c6_0_208"/>
          <p:cNvPicPr preferRelativeResize="0"/>
          <p:nvPr/>
        </p:nvPicPr>
        <p:blipFill>
          <a:blip r:embed="rId3">
            <a:alphaModFix/>
          </a:blip>
          <a:stretch>
            <a:fillRect/>
          </a:stretch>
        </p:blipFill>
        <p:spPr>
          <a:xfrm>
            <a:off x="2695463" y="2061750"/>
            <a:ext cx="6801075" cy="22168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7" name="Shape 387"/>
        <p:cNvGrpSpPr/>
        <p:nvPr/>
      </p:nvGrpSpPr>
      <p:grpSpPr>
        <a:xfrm>
          <a:off x="0" y="0"/>
          <a:ext cx="0" cy="0"/>
          <a:chOff x="0" y="0"/>
          <a:chExt cx="0" cy="0"/>
        </a:xfrm>
      </p:grpSpPr>
      <p:sp>
        <p:nvSpPr>
          <p:cNvPr id="388" name="Google Shape;388;g263fc59b3c6_0_224"/>
          <p:cNvSpPr/>
          <p:nvPr/>
        </p:nvSpPr>
        <p:spPr>
          <a:xfrm>
            <a:off x="0" y="0"/>
            <a:ext cx="12189000" cy="68580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1200"/>
              </a:spcAft>
              <a:buNone/>
            </a:pPr>
            <a:r>
              <a:t/>
            </a:r>
            <a:endParaRPr sz="2200">
              <a:solidFill>
                <a:srgbClr val="595959"/>
              </a:solidFill>
            </a:endParaRPr>
          </a:p>
        </p:txBody>
      </p:sp>
      <p:sp>
        <p:nvSpPr>
          <p:cNvPr id="389" name="Google Shape;389;g263fc59b3c6_0_224"/>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CA" sz="2800">
                <a:latin typeface="Arial"/>
                <a:ea typeface="Arial"/>
                <a:cs typeface="Arial"/>
                <a:sym typeface="Arial"/>
              </a:rPr>
              <a:t>Reformulation</a:t>
            </a:r>
            <a:endParaRPr sz="2800">
              <a:latin typeface="Arial"/>
              <a:ea typeface="Arial"/>
              <a:cs typeface="Arial"/>
              <a:sym typeface="Arial"/>
            </a:endParaRPr>
          </a:p>
        </p:txBody>
      </p:sp>
      <p:sp>
        <p:nvSpPr>
          <p:cNvPr id="390" name="Google Shape;390;g263fc59b3c6_0_224"/>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1" name="Google Shape;391;g263fc59b3c6_0_224"/>
          <p:cNvSpPr txBox="1"/>
          <p:nvPr>
            <p:ph idx="1" type="body"/>
          </p:nvPr>
        </p:nvSpPr>
        <p:spPr>
          <a:xfrm>
            <a:off x="838200" y="1918450"/>
            <a:ext cx="10854000" cy="13257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rPr lang="en-CA" sz="2200">
                <a:solidFill>
                  <a:srgbClr val="595959"/>
                </a:solidFill>
                <a:latin typeface="Arial"/>
                <a:ea typeface="Arial"/>
                <a:cs typeface="Arial"/>
                <a:sym typeface="Arial"/>
              </a:rPr>
              <a:t>Recall the formula of sampling xt from x0:</a:t>
            </a:r>
            <a:endParaRPr sz="2200">
              <a:solidFill>
                <a:srgbClr val="595959"/>
              </a:solidFill>
              <a:latin typeface="Arial"/>
              <a:ea typeface="Arial"/>
              <a:cs typeface="Arial"/>
              <a:sym typeface="Arial"/>
            </a:endParaRPr>
          </a:p>
          <a:p>
            <a:pPr indent="0" lvl="0" marL="0" marR="0" rtl="0" algn="l">
              <a:lnSpc>
                <a:spcPct val="115000"/>
              </a:lnSpc>
              <a:spcBef>
                <a:spcPts val="1200"/>
              </a:spcBef>
              <a:spcAft>
                <a:spcPts val="1200"/>
              </a:spcAft>
              <a:buNone/>
            </a:pPr>
            <a:r>
              <a:t/>
            </a:r>
            <a:endParaRPr sz="2200">
              <a:solidFill>
                <a:srgbClr val="595959"/>
              </a:solidFill>
              <a:latin typeface="Arial"/>
              <a:ea typeface="Arial"/>
              <a:cs typeface="Arial"/>
              <a:sym typeface="Arial"/>
            </a:endParaRPr>
          </a:p>
        </p:txBody>
      </p:sp>
      <p:pic>
        <p:nvPicPr>
          <p:cNvPr id="392" name="Google Shape;392;g263fc59b3c6_0_224"/>
          <p:cNvPicPr preferRelativeResize="0"/>
          <p:nvPr/>
        </p:nvPicPr>
        <p:blipFill>
          <a:blip r:embed="rId3">
            <a:alphaModFix/>
          </a:blip>
          <a:stretch>
            <a:fillRect/>
          </a:stretch>
        </p:blipFill>
        <p:spPr>
          <a:xfrm>
            <a:off x="3813948" y="2467800"/>
            <a:ext cx="3052050" cy="1280700"/>
          </a:xfrm>
          <a:prstGeom prst="rect">
            <a:avLst/>
          </a:prstGeom>
          <a:noFill/>
          <a:ln>
            <a:noFill/>
          </a:ln>
        </p:spPr>
      </p:pic>
      <p:sp>
        <p:nvSpPr>
          <p:cNvPr id="393" name="Google Shape;393;g263fc59b3c6_0_224"/>
          <p:cNvSpPr txBox="1"/>
          <p:nvPr>
            <p:ph idx="1" type="body"/>
          </p:nvPr>
        </p:nvSpPr>
        <p:spPr>
          <a:xfrm>
            <a:off x="838200" y="3748500"/>
            <a:ext cx="10854000" cy="1325700"/>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lnSpc>
                <a:spcPct val="115000"/>
              </a:lnSpc>
              <a:spcBef>
                <a:spcPts val="0"/>
              </a:spcBef>
              <a:spcAft>
                <a:spcPts val="0"/>
              </a:spcAft>
              <a:buNone/>
            </a:pPr>
            <a:r>
              <a:rPr lang="en-CA" sz="2200">
                <a:solidFill>
                  <a:srgbClr val="595959"/>
                </a:solidFill>
                <a:latin typeface="Arial"/>
                <a:ea typeface="Arial"/>
                <a:cs typeface="Arial"/>
                <a:sym typeface="Arial"/>
              </a:rPr>
              <a:t>Ref</a:t>
            </a:r>
            <a:r>
              <a:rPr lang="en-CA" sz="2200">
                <a:solidFill>
                  <a:srgbClr val="595959"/>
                </a:solidFill>
                <a:latin typeface="Arial"/>
                <a:ea typeface="Arial"/>
                <a:cs typeface="Arial"/>
                <a:sym typeface="Arial"/>
              </a:rPr>
              <a:t>ormulate</a:t>
            </a:r>
            <a:r>
              <a:rPr lang="en-CA" sz="2200">
                <a:solidFill>
                  <a:srgbClr val="595959"/>
                </a:solidFill>
                <a:latin typeface="Arial"/>
                <a:ea typeface="Arial"/>
                <a:cs typeface="Arial"/>
                <a:sym typeface="Arial"/>
              </a:rPr>
              <a:t> the mean of g</a:t>
            </a:r>
            <a:r>
              <a:rPr lang="en-CA" sz="2200">
                <a:solidFill>
                  <a:srgbClr val="595959"/>
                </a:solidFill>
                <a:latin typeface="Arial"/>
                <a:ea typeface="Arial"/>
                <a:cs typeface="Arial"/>
                <a:sym typeface="Arial"/>
              </a:rPr>
              <a:t>round-truth denoising process and the reverse diffusion process:</a:t>
            </a:r>
            <a:endParaRPr sz="2200">
              <a:solidFill>
                <a:srgbClr val="595959"/>
              </a:solidFill>
              <a:latin typeface="Arial"/>
              <a:ea typeface="Arial"/>
              <a:cs typeface="Arial"/>
              <a:sym typeface="Arial"/>
            </a:endParaRPr>
          </a:p>
          <a:p>
            <a:pPr indent="0" lvl="0" marL="0" marR="0" rtl="0" algn="l">
              <a:lnSpc>
                <a:spcPct val="115000"/>
              </a:lnSpc>
              <a:spcBef>
                <a:spcPts val="1200"/>
              </a:spcBef>
              <a:spcAft>
                <a:spcPts val="0"/>
              </a:spcAft>
              <a:buNone/>
            </a:pPr>
            <a:r>
              <a:rPr lang="en-CA" sz="2200">
                <a:solidFill>
                  <a:srgbClr val="595959"/>
                </a:solidFill>
                <a:latin typeface="Arial"/>
                <a:ea typeface="Arial"/>
                <a:cs typeface="Arial"/>
                <a:sym typeface="Arial"/>
              </a:rPr>
              <a:t> </a:t>
            </a:r>
            <a:endParaRPr sz="2200">
              <a:solidFill>
                <a:srgbClr val="595959"/>
              </a:solidFill>
              <a:latin typeface="Arial"/>
              <a:ea typeface="Arial"/>
              <a:cs typeface="Arial"/>
              <a:sym typeface="Arial"/>
            </a:endParaRPr>
          </a:p>
          <a:p>
            <a:pPr indent="0" lvl="0" marL="0" marR="0" rtl="0" algn="l">
              <a:lnSpc>
                <a:spcPct val="115000"/>
              </a:lnSpc>
              <a:spcBef>
                <a:spcPts val="1200"/>
              </a:spcBef>
              <a:spcAft>
                <a:spcPts val="1200"/>
              </a:spcAft>
              <a:buNone/>
            </a:pPr>
            <a:r>
              <a:t/>
            </a:r>
            <a:endParaRPr sz="2200">
              <a:solidFill>
                <a:srgbClr val="595959"/>
              </a:solidFill>
              <a:latin typeface="Arial"/>
              <a:ea typeface="Arial"/>
              <a:cs typeface="Arial"/>
              <a:sym typeface="Arial"/>
            </a:endParaRPr>
          </a:p>
        </p:txBody>
      </p:sp>
      <p:pic>
        <p:nvPicPr>
          <p:cNvPr id="394" name="Google Shape;394;g263fc59b3c6_0_224"/>
          <p:cNvPicPr preferRelativeResize="0"/>
          <p:nvPr/>
        </p:nvPicPr>
        <p:blipFill>
          <a:blip r:embed="rId4">
            <a:alphaModFix/>
          </a:blip>
          <a:stretch>
            <a:fillRect/>
          </a:stretch>
        </p:blipFill>
        <p:spPr>
          <a:xfrm>
            <a:off x="1033375" y="4216950"/>
            <a:ext cx="5262055" cy="857250"/>
          </a:xfrm>
          <a:prstGeom prst="rect">
            <a:avLst/>
          </a:prstGeom>
          <a:noFill/>
          <a:ln>
            <a:noFill/>
          </a:ln>
        </p:spPr>
      </p:pic>
      <p:pic>
        <p:nvPicPr>
          <p:cNvPr id="395" name="Google Shape;395;g263fc59b3c6_0_224"/>
          <p:cNvPicPr preferRelativeResize="0"/>
          <p:nvPr/>
        </p:nvPicPr>
        <p:blipFill>
          <a:blip r:embed="rId5">
            <a:alphaModFix/>
          </a:blip>
          <a:stretch>
            <a:fillRect/>
          </a:stretch>
        </p:blipFill>
        <p:spPr>
          <a:xfrm>
            <a:off x="1445300" y="5194075"/>
            <a:ext cx="3581400" cy="857250"/>
          </a:xfrm>
          <a:prstGeom prst="rect">
            <a:avLst/>
          </a:prstGeom>
          <a:noFill/>
          <a:ln>
            <a:noFill/>
          </a:ln>
        </p:spPr>
      </p:pic>
      <p:pic>
        <p:nvPicPr>
          <p:cNvPr id="396" name="Google Shape;396;g263fc59b3c6_0_224"/>
          <p:cNvPicPr preferRelativeResize="0"/>
          <p:nvPr/>
        </p:nvPicPr>
        <p:blipFill>
          <a:blip r:embed="rId6">
            <a:alphaModFix/>
          </a:blip>
          <a:stretch>
            <a:fillRect/>
          </a:stretch>
        </p:blipFill>
        <p:spPr>
          <a:xfrm>
            <a:off x="6750938" y="4842900"/>
            <a:ext cx="4772025" cy="895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1" name="Shape 401"/>
        <p:cNvGrpSpPr/>
        <p:nvPr/>
      </p:nvGrpSpPr>
      <p:grpSpPr>
        <a:xfrm>
          <a:off x="0" y="0"/>
          <a:ext cx="0" cy="0"/>
          <a:chOff x="0" y="0"/>
          <a:chExt cx="0" cy="0"/>
        </a:xfrm>
      </p:grpSpPr>
      <p:sp>
        <p:nvSpPr>
          <p:cNvPr id="402" name="Google Shape;402;g263fc59b3c6_0_24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3" name="Google Shape;403;g263fc59b3c6_0_244"/>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CA" sz="2800">
                <a:latin typeface="Arial"/>
                <a:ea typeface="Arial"/>
                <a:cs typeface="Arial"/>
                <a:sym typeface="Arial"/>
              </a:rPr>
              <a:t>Loss function</a:t>
            </a:r>
            <a:endParaRPr sz="2800">
              <a:latin typeface="Arial"/>
              <a:ea typeface="Arial"/>
              <a:cs typeface="Arial"/>
              <a:sym typeface="Arial"/>
            </a:endParaRPr>
          </a:p>
        </p:txBody>
      </p:sp>
      <p:sp>
        <p:nvSpPr>
          <p:cNvPr id="404" name="Google Shape;404;g263fc59b3c6_0_244"/>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 name="Google Shape;405;g263fc59b3c6_0_244"/>
          <p:cNvSpPr txBox="1"/>
          <p:nvPr>
            <p:ph idx="1" type="body"/>
          </p:nvPr>
        </p:nvSpPr>
        <p:spPr>
          <a:xfrm>
            <a:off x="499800" y="5011725"/>
            <a:ext cx="10854000" cy="2277900"/>
          </a:xfrm>
          <a:prstGeom prst="rect">
            <a:avLst/>
          </a:prstGeom>
          <a:noFill/>
          <a:ln>
            <a:noFill/>
          </a:ln>
        </p:spPr>
        <p:txBody>
          <a:bodyPr anchorCtr="0" anchor="t" bIns="45700" lIns="91425" spcFirstLastPara="1" rIns="91425" wrap="square" tIns="45700">
            <a:normAutofit/>
          </a:bodyPr>
          <a:lstStyle/>
          <a:p>
            <a:pPr indent="457200" lvl="0" marL="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457200" lvl="0" marL="0" rtl="0" algn="l">
              <a:lnSpc>
                <a:spcPct val="115000"/>
              </a:lnSpc>
              <a:spcBef>
                <a:spcPts val="1200"/>
              </a:spcBef>
              <a:spcAft>
                <a:spcPts val="1200"/>
              </a:spcAft>
              <a:buNone/>
            </a:pPr>
            <a:r>
              <a:rPr lang="en-CA" sz="2200">
                <a:solidFill>
                  <a:srgbClr val="595959"/>
                </a:solidFill>
                <a:latin typeface="Arial"/>
                <a:ea typeface="Arial"/>
                <a:cs typeface="Arial"/>
                <a:sym typeface="Arial"/>
              </a:rPr>
              <a:t>mean squared error between the actual noise and predicted noise </a:t>
            </a:r>
            <a:endParaRPr sz="2200">
              <a:solidFill>
                <a:srgbClr val="595959"/>
              </a:solidFill>
              <a:latin typeface="Arial"/>
              <a:ea typeface="Arial"/>
              <a:cs typeface="Arial"/>
              <a:sym typeface="Arial"/>
            </a:endParaRPr>
          </a:p>
        </p:txBody>
      </p:sp>
      <p:pic>
        <p:nvPicPr>
          <p:cNvPr id="406" name="Google Shape;406;g263fc59b3c6_0_244"/>
          <p:cNvPicPr preferRelativeResize="0"/>
          <p:nvPr/>
        </p:nvPicPr>
        <p:blipFill>
          <a:blip r:embed="rId3">
            <a:alphaModFix/>
          </a:blip>
          <a:stretch>
            <a:fillRect/>
          </a:stretch>
        </p:blipFill>
        <p:spPr>
          <a:xfrm>
            <a:off x="2695463" y="2061750"/>
            <a:ext cx="6801075" cy="2216875"/>
          </a:xfrm>
          <a:prstGeom prst="rect">
            <a:avLst/>
          </a:prstGeom>
          <a:noFill/>
          <a:ln>
            <a:noFill/>
          </a:ln>
        </p:spPr>
      </p:pic>
      <p:pic>
        <p:nvPicPr>
          <p:cNvPr id="407" name="Google Shape;407;g263fc59b3c6_0_244"/>
          <p:cNvPicPr preferRelativeResize="0"/>
          <p:nvPr/>
        </p:nvPicPr>
        <p:blipFill>
          <a:blip r:embed="rId4">
            <a:alphaModFix/>
          </a:blip>
          <a:stretch>
            <a:fillRect/>
          </a:stretch>
        </p:blipFill>
        <p:spPr>
          <a:xfrm>
            <a:off x="2695475" y="4278625"/>
            <a:ext cx="5870488" cy="881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2" name="Shape 412"/>
        <p:cNvGrpSpPr/>
        <p:nvPr/>
      </p:nvGrpSpPr>
      <p:grpSpPr>
        <a:xfrm>
          <a:off x="0" y="0"/>
          <a:ext cx="0" cy="0"/>
          <a:chOff x="0" y="0"/>
          <a:chExt cx="0" cy="0"/>
        </a:xfrm>
      </p:grpSpPr>
      <p:sp>
        <p:nvSpPr>
          <p:cNvPr id="413" name="Google Shape;413;g263fc59b3c6_0_260"/>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g263fc59b3c6_0_260"/>
          <p:cNvSpPr txBox="1"/>
          <p:nvPr>
            <p:ph type="title"/>
          </p:nvPr>
        </p:nvSpPr>
        <p:spPr>
          <a:xfrm>
            <a:off x="838200" y="3699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CA" sz="2800">
                <a:latin typeface="Arial"/>
                <a:ea typeface="Arial"/>
                <a:cs typeface="Arial"/>
                <a:sym typeface="Arial"/>
              </a:rPr>
              <a:t>Summary</a:t>
            </a:r>
            <a:endParaRPr sz="2800">
              <a:latin typeface="Arial"/>
              <a:ea typeface="Arial"/>
              <a:cs typeface="Arial"/>
              <a:sym typeface="Arial"/>
            </a:endParaRPr>
          </a:p>
        </p:txBody>
      </p:sp>
      <p:sp>
        <p:nvSpPr>
          <p:cNvPr id="415" name="Google Shape;415;g263fc59b3c6_0_260"/>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g263fc59b3c6_0_260"/>
          <p:cNvSpPr txBox="1"/>
          <p:nvPr>
            <p:ph idx="1" type="body"/>
          </p:nvPr>
        </p:nvSpPr>
        <p:spPr>
          <a:xfrm>
            <a:off x="669000" y="2294000"/>
            <a:ext cx="10854000" cy="43962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t/>
            </a:r>
            <a:endParaRPr sz="2200">
              <a:solidFill>
                <a:srgbClr val="595959"/>
              </a:solidFill>
              <a:latin typeface="Arial"/>
              <a:ea typeface="Arial"/>
              <a:cs typeface="Arial"/>
              <a:sym typeface="Arial"/>
            </a:endParaRPr>
          </a:p>
          <a:p>
            <a:pPr indent="-254000" lvl="1" marL="685800" marR="0" rtl="0" algn="l">
              <a:lnSpc>
                <a:spcPct val="115000"/>
              </a:lnSpc>
              <a:spcBef>
                <a:spcPts val="1200"/>
              </a:spcBef>
              <a:spcAft>
                <a:spcPts val="0"/>
              </a:spcAft>
              <a:buSzPts val="2200"/>
              <a:buFont typeface="Roboto"/>
              <a:buChar char="•"/>
            </a:pPr>
            <a:r>
              <a:rPr lang="en-CA" sz="2200">
                <a:solidFill>
                  <a:srgbClr val="595959"/>
                </a:solidFill>
                <a:latin typeface="Arial"/>
                <a:ea typeface="Arial"/>
                <a:cs typeface="Arial"/>
                <a:sym typeface="Arial"/>
              </a:rPr>
              <a:t>Diffusion process: adding noise and </a:t>
            </a:r>
            <a:r>
              <a:rPr lang="en-CA" sz="2200">
                <a:solidFill>
                  <a:srgbClr val="595959"/>
                </a:solidFill>
                <a:latin typeface="Arial"/>
                <a:ea typeface="Arial"/>
                <a:cs typeface="Arial"/>
                <a:sym typeface="Arial"/>
              </a:rPr>
              <a:t>denoising</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SzPts val="2200"/>
              <a:buFont typeface="Roboto"/>
              <a:buChar char="•"/>
            </a:pPr>
            <a:r>
              <a:rPr lang="en-CA" sz="2200">
                <a:solidFill>
                  <a:srgbClr val="595959"/>
                </a:solidFill>
                <a:latin typeface="Arial"/>
                <a:ea typeface="Arial"/>
                <a:cs typeface="Arial"/>
                <a:sym typeface="Arial"/>
              </a:rPr>
              <a:t>Maximum likelihood estimation</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Clr>
                <a:srgbClr val="595959"/>
              </a:buClr>
              <a:buSzPts val="2200"/>
              <a:buFont typeface="Arial"/>
              <a:buChar char="•"/>
            </a:pPr>
            <a:r>
              <a:rPr lang="en-CA" sz="2200">
                <a:solidFill>
                  <a:srgbClr val="595959"/>
                </a:solidFill>
                <a:latin typeface="Arial"/>
                <a:ea typeface="Arial"/>
                <a:cs typeface="Arial"/>
                <a:sym typeface="Arial"/>
              </a:rPr>
              <a:t>Evidence lower bound</a:t>
            </a:r>
            <a:endParaRPr sz="2200">
              <a:solidFill>
                <a:srgbClr val="595959"/>
              </a:solidFill>
              <a:latin typeface="Arial"/>
              <a:ea typeface="Arial"/>
              <a:cs typeface="Arial"/>
              <a:sym typeface="Arial"/>
            </a:endParaRPr>
          </a:p>
          <a:p>
            <a:pPr indent="-254000" lvl="1" marL="685800" marR="0" rtl="0" algn="l">
              <a:lnSpc>
                <a:spcPct val="115000"/>
              </a:lnSpc>
              <a:spcBef>
                <a:spcPts val="0"/>
              </a:spcBef>
              <a:spcAft>
                <a:spcPts val="0"/>
              </a:spcAft>
              <a:buClr>
                <a:srgbClr val="595959"/>
              </a:buClr>
              <a:buSzPts val="2200"/>
              <a:buFont typeface="Arial"/>
              <a:buChar char="•"/>
            </a:pPr>
            <a:r>
              <a:rPr lang="en-CA" sz="2200">
                <a:solidFill>
                  <a:srgbClr val="595959"/>
                </a:solidFill>
                <a:latin typeface="Arial"/>
                <a:ea typeface="Arial"/>
                <a:cs typeface="Arial"/>
                <a:sym typeface="Arial"/>
              </a:rPr>
              <a:t>Loss function</a:t>
            </a:r>
            <a:endParaRPr sz="2200">
              <a:solidFill>
                <a:srgbClr val="595959"/>
              </a:solidFill>
              <a:latin typeface="Arial"/>
              <a:ea typeface="Arial"/>
              <a:cs typeface="Arial"/>
              <a:sym typeface="Arial"/>
            </a:endParaRPr>
          </a:p>
          <a:p>
            <a:pPr indent="0" lvl="0" marL="0" marR="0" rtl="0" algn="l">
              <a:lnSpc>
                <a:spcPct val="115000"/>
              </a:lnSpc>
              <a:spcBef>
                <a:spcPts val="1200"/>
              </a:spcBef>
              <a:spcAft>
                <a:spcPts val="1200"/>
              </a:spcAft>
              <a:buNone/>
            </a:pPr>
            <a:r>
              <a:t/>
            </a:r>
            <a:endParaRPr sz="2200">
              <a:solidFill>
                <a:srgbClr val="59595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2023-12-12T23:16:18Z</dcterms:created>
  <dc:creator>Howie Jin</dc:creator>
</cp:coreProperties>
</file>