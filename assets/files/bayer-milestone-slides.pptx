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embeddedFontLst>
    <p:embeddedFont>
      <p:font typeface="Raleway"/>
      <p:regular r:id="rId36"/>
      <p:bold r:id="rId37"/>
      <p:italic r:id="rId38"/>
      <p:boldItalic r:id="rId39"/>
    </p:embeddedFont>
    <p:embeddedFont>
      <p:font typeface="Lato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regular.fntdata"/><Relationship Id="rId20" Type="http://schemas.openxmlformats.org/officeDocument/2006/relationships/slide" Target="slides/slide15.xml"/><Relationship Id="rId42" Type="http://schemas.openxmlformats.org/officeDocument/2006/relationships/font" Target="fonts/Lato-italic.fntdata"/><Relationship Id="rId41" Type="http://schemas.openxmlformats.org/officeDocument/2006/relationships/font" Target="fonts/Lato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Lato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aleway-bold.fntdata"/><Relationship Id="rId14" Type="http://schemas.openxmlformats.org/officeDocument/2006/relationships/slide" Target="slides/slide9.xml"/><Relationship Id="rId36" Type="http://schemas.openxmlformats.org/officeDocument/2006/relationships/font" Target="fonts/Raleway-regular.fntdata"/><Relationship Id="rId17" Type="http://schemas.openxmlformats.org/officeDocument/2006/relationships/slide" Target="slides/slide12.xml"/><Relationship Id="rId39" Type="http://schemas.openxmlformats.org/officeDocument/2006/relationships/font" Target="fonts/Raleway-boldItalic.fntdata"/><Relationship Id="rId16" Type="http://schemas.openxmlformats.org/officeDocument/2006/relationships/slide" Target="slides/slide11.xml"/><Relationship Id="rId38" Type="http://schemas.openxmlformats.org/officeDocument/2006/relationships/font" Target="fonts/Raleway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b6696c38d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b6696c38d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b6696c38d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b6696c38d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b6696c38d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b6696c38d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678812e6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678812e6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b6696c38d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b6696c38d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b6696c38d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b6696c38d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b6696c38d4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b6696c38d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b6696c38d4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b6696c38d4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6841527b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6841527b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6841527b1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6841527b1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6841527b1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6841527b1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6841527b1a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6841527b1a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6841527b1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6841527b1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6841527b1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6841527b1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6841527b1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6841527b1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6841527b1a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6841527b1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6841527b1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6841527b1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b7710dc0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b7710dc0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b7710dc02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b7710dc02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b7710dc02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b7710dc02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b7710dc02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b7710dc02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6849dafbab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26849dafbab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6849dafbab_4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26849dafbab_4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6849dafbab_3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26849dafbab_3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6849dafbab_3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26849dafbab_3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b744b59df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2b744b59df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6849dafbab_3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26849dafbab_3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6849dafba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26849dafba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688d51b90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2688d51b90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Relationship Id="rId4" Type="http://schemas.openxmlformats.org/officeDocument/2006/relationships/hyperlink" Target="https://huggingface.co/digiplay/Landscape_PhotoReal_v1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46.png"/><Relationship Id="rId6" Type="http://schemas.openxmlformats.org/officeDocument/2006/relationships/image" Target="../media/image45.png"/><Relationship Id="rId7" Type="http://schemas.openxmlformats.org/officeDocument/2006/relationships/image" Target="../media/image47.png"/></Relationships>
</file>

<file path=ppt/slides/_rels/slide24.xml.rels><?xml version="1.0" encoding="UTF-8" standalone="yes"?><Relationships xmlns="http://schemas.openxmlformats.org/package/2006/relationships"><Relationship Id="rId11" Type="http://schemas.openxmlformats.org/officeDocument/2006/relationships/image" Target="../media/image31.png"/><Relationship Id="rId10" Type="http://schemas.openxmlformats.org/officeDocument/2006/relationships/image" Target="../media/image33.png"/><Relationship Id="rId13" Type="http://schemas.openxmlformats.org/officeDocument/2006/relationships/image" Target="../media/image32.png"/><Relationship Id="rId1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8.png"/><Relationship Id="rId4" Type="http://schemas.openxmlformats.org/officeDocument/2006/relationships/image" Target="../media/image38.png"/><Relationship Id="rId9" Type="http://schemas.openxmlformats.org/officeDocument/2006/relationships/image" Target="../media/image39.png"/><Relationship Id="rId14" Type="http://schemas.openxmlformats.org/officeDocument/2006/relationships/image" Target="../media/image41.png"/><Relationship Id="rId5" Type="http://schemas.openxmlformats.org/officeDocument/2006/relationships/image" Target="../media/image36.png"/><Relationship Id="rId6" Type="http://schemas.openxmlformats.org/officeDocument/2006/relationships/image" Target="../media/image29.png"/><Relationship Id="rId7" Type="http://schemas.openxmlformats.org/officeDocument/2006/relationships/image" Target="../media/image35.png"/><Relationship Id="rId8" Type="http://schemas.openxmlformats.org/officeDocument/2006/relationships/image" Target="../media/image4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8.png"/><Relationship Id="rId4" Type="http://schemas.openxmlformats.org/officeDocument/2006/relationships/image" Target="../media/image3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3.png"/><Relationship Id="rId4" Type="http://schemas.openxmlformats.org/officeDocument/2006/relationships/image" Target="../media/image30.png"/><Relationship Id="rId5" Type="http://schemas.openxmlformats.org/officeDocument/2006/relationships/image" Target="../media/image40.png"/><Relationship Id="rId6" Type="http://schemas.openxmlformats.org/officeDocument/2006/relationships/image" Target="../media/image3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190"/>
              <a:buFont typeface="Arial"/>
              <a:buNone/>
            </a:pPr>
            <a:r>
              <a:rPr lang="en-CA"/>
              <a:t>Using Bayer Pattern to Detect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Fake Images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Larry Liu, Ziyao Wang, Eric Cao,</a:t>
            </a:r>
            <a:r>
              <a:rPr lang="en-CA"/>
              <a:t> Olasunade Ladenegan</a:t>
            </a:r>
            <a:endParaRPr/>
          </a:p>
        </p:txBody>
      </p:sp>
      <p:sp>
        <p:nvSpPr>
          <p:cNvPr id="88" name="Google Shape;88;p13"/>
          <p:cNvSpPr txBox="1"/>
          <p:nvPr>
            <p:ph idx="1" type="subTitle"/>
          </p:nvPr>
        </p:nvSpPr>
        <p:spPr>
          <a:xfrm>
            <a:off x="729450" y="3773800"/>
            <a:ext cx="8103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/>
              <a:t>February 2024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Synthesized Images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9450" y="2078875"/>
            <a:ext cx="38424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Even human eyes may fail to recognize images synthesized by deep learning.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Many deep generative algorithms are available: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CA"/>
              <a:t>Generative </a:t>
            </a:r>
            <a:r>
              <a:rPr lang="en-CA"/>
              <a:t>adversarial</a:t>
            </a:r>
            <a:r>
              <a:rPr lang="en-CA"/>
              <a:t> networks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CA"/>
              <a:t>Variational autoencoder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CA"/>
              <a:t>Diffusion and score-based models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CA"/>
              <a:t>…</a:t>
            </a:r>
            <a:endParaRPr/>
          </a:p>
        </p:txBody>
      </p:sp>
      <p:pic>
        <p:nvPicPr>
          <p:cNvPr id="95" name="Google Shape;9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1275" y="894725"/>
            <a:ext cx="3701676" cy="370167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664650" y="4732775"/>
            <a:ext cx="781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Image generated by model</a:t>
            </a:r>
            <a:r>
              <a:rPr lang="en-CA" sz="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CA" sz="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“Landscape_photoreal”</a:t>
            </a:r>
            <a:endParaRPr sz="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500">
                <a:highlight>
                  <a:srgbClr val="FFFFFF"/>
                </a:highlight>
              </a:rPr>
              <a:t>CityEdge. Landscape_photoreal, 2023. URL </a:t>
            </a:r>
            <a:r>
              <a:rPr lang="en-CA" sz="500" u="sng">
                <a:solidFill>
                  <a:schemeClr val="hlink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  <a:hlinkClick r:id="rId4"/>
              </a:rPr>
              <a:t>https://huggingface.co/digiplay/Landscape_PhotoReal_v1</a:t>
            </a:r>
            <a:r>
              <a:rPr lang="en-CA" sz="500">
                <a:highlight>
                  <a:srgbClr val="FFFFFF"/>
                </a:highlight>
              </a:rPr>
              <a:t>. [Online; accessed 02-February-2024].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Cameras and Photosensors</a:t>
            </a:r>
            <a:endParaRPr/>
          </a:p>
        </p:txBody>
      </p:sp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729450" y="2078875"/>
            <a:ext cx="38424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CMOS and CCD photosensors convert light intensity to analog signals.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Can’t record intensity of different wavelength.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For an image to be colorful, at least three color components are needed at each pixel position.</a:t>
            </a:r>
            <a:endParaRPr/>
          </a:p>
        </p:txBody>
      </p:sp>
      <p:pic>
        <p:nvPicPr>
          <p:cNvPr id="104" name="Google Shape;10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1076" y="819725"/>
            <a:ext cx="2237650" cy="197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4274" y="2854775"/>
            <a:ext cx="3451250" cy="184652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5035800" y="4760400"/>
            <a:ext cx="41082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600"/>
              <a:t>Image source: Olivier Losson, Ludovic Macaire, and Yanqin Yang. Comparison of color demosaicing methods. In Advances in Imaging and electron Physics, volume 162, pages 173–265. Elsevier, 2010.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Cameras and Photosensors</a:t>
            </a:r>
            <a:endParaRPr/>
          </a:p>
        </p:txBody>
      </p:sp>
      <p:sp>
        <p:nvSpPr>
          <p:cNvPr id="113" name="Google Shape;113;p16"/>
          <p:cNvSpPr txBox="1"/>
          <p:nvPr>
            <p:ph idx="1" type="body"/>
          </p:nvPr>
        </p:nvSpPr>
        <p:spPr>
          <a:xfrm>
            <a:off x="729450" y="2078875"/>
            <a:ext cx="38424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Cameras with three sensors are </a:t>
            </a:r>
            <a:r>
              <a:rPr lang="en-CA"/>
              <a:t>structurally</a:t>
            </a:r>
            <a:r>
              <a:rPr lang="en-CA"/>
              <a:t> complex and expensive.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Cover a color filter array over the sensor to capture one primary color component at each location.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Interpolate the missing colors in the post-processing pipeline.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4954325" y="2669850"/>
            <a:ext cx="41082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600"/>
              <a:t>Image source: </a:t>
            </a:r>
            <a:r>
              <a:rPr lang="en-CA" sz="600"/>
              <a:t>Xin Li, Bahadir Gunturk, and Lei Zhang. Image demosaicing: A systematic survey. In Visual Communications and Image Processing 2008, volume 6822, pages 489–503. SPIE, 2008.</a:t>
            </a:r>
            <a:endParaRPr sz="600"/>
          </a:p>
        </p:txBody>
      </p:sp>
      <p:pic>
        <p:nvPicPr>
          <p:cNvPr id="115" name="Google Shape;11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9577" y="717475"/>
            <a:ext cx="3141024" cy="195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9187" y="3074625"/>
            <a:ext cx="2958475" cy="163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4954325" y="4549475"/>
            <a:ext cx="41082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600"/>
              <a:t>Image source: Olivier Losson, Ludovic Macaire, and Yanqin Yang. Comparison of color demosaicing methods. In Advances in Imaging and electron Physics, volume 162, pages 173–265. Elsevier, 2010.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" name="Google Shape;118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4325" y="2423875"/>
            <a:ext cx="1419800" cy="141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Bayer Filter</a:t>
            </a:r>
            <a:endParaRPr/>
          </a:p>
        </p:txBody>
      </p:sp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729450" y="2078875"/>
            <a:ext cx="38424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Introduced by Bryce Bayer in the Kodak company in 1976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Cone cells in human eyes can better resolve green in daylight vision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5248800" y="4760400"/>
            <a:ext cx="38952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600"/>
              <a:t>Image source: Olivier Losson, Ludovic Macaire, and Yanqin Yang. Comparison of color demosaicing methods. In Advances in Imaging and electron Physics, volume 162, pages 173–265. Elsevier, 2010.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" name="Google Shape;127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6500" y="2396500"/>
            <a:ext cx="1419800" cy="141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Bayer Filter</a:t>
            </a:r>
            <a:endParaRPr/>
          </a:p>
        </p:txBody>
      </p:sp>
      <p:sp>
        <p:nvSpPr>
          <p:cNvPr id="134" name="Google Shape;134;p18"/>
          <p:cNvSpPr txBox="1"/>
          <p:nvPr>
            <p:ph idx="1" type="body"/>
          </p:nvPr>
        </p:nvSpPr>
        <p:spPr>
          <a:xfrm>
            <a:off x="729450" y="2078875"/>
            <a:ext cx="38424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Introduced by Bryce Bayer in the Kodak company in 1976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Cone cells in human eyes can better resolve green in daylight vision</a:t>
            </a:r>
            <a:endParaRPr/>
          </a:p>
        </p:txBody>
      </p:sp>
      <p:sp>
        <p:nvSpPr>
          <p:cNvPr id="135" name="Google Shape;135;p18"/>
          <p:cNvSpPr txBox="1"/>
          <p:nvPr/>
        </p:nvSpPr>
        <p:spPr>
          <a:xfrm>
            <a:off x="5248800" y="4760400"/>
            <a:ext cx="38952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600"/>
              <a:t>Image source: Olivier Losson, Ludovic Macaire, and Yanqin Yang. Comparison of color demosaicing methods. In Advances in Imaging and electron Physics, volume 162, pages 173–265. Elsevier, 2010.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" name="Google Shape;136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Kodak’s CFA 2.0</a:t>
            </a:r>
            <a:endParaRPr/>
          </a:p>
        </p:txBody>
      </p:sp>
      <p:sp>
        <p:nvSpPr>
          <p:cNvPr id="142" name="Google Shape;142;p19"/>
          <p:cNvSpPr txBox="1"/>
          <p:nvPr>
            <p:ph idx="1" type="body"/>
          </p:nvPr>
        </p:nvSpPr>
        <p:spPr>
          <a:xfrm>
            <a:off x="729450" y="2078875"/>
            <a:ext cx="3842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Featuring panchromatic filters that is transparent to all light.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Can capture a greater range of light even in dark environments.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Less accurate on color.</a:t>
            </a:r>
            <a:endParaRPr/>
          </a:p>
        </p:txBody>
      </p:sp>
      <p:pic>
        <p:nvPicPr>
          <p:cNvPr id="143" name="Google Shape;14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6125" y="2078875"/>
            <a:ext cx="1408465" cy="141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9"/>
          <p:cNvSpPr txBox="1"/>
          <p:nvPr/>
        </p:nvSpPr>
        <p:spPr>
          <a:xfrm>
            <a:off x="5248800" y="4760400"/>
            <a:ext cx="38952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600"/>
              <a:t>Image source: Olivier Losson, Ludovic Macaire, and Yanqin Yang. Comparison of color demosaicing methods. In Advances in Imaging and electron Physics, volume 162, pages 173–265. Elsevier, 2010.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" name="Google Shape;145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CYM-Based Filters</a:t>
            </a:r>
            <a:endParaRPr/>
          </a:p>
        </p:txBody>
      </p:sp>
      <p:sp>
        <p:nvSpPr>
          <p:cNvPr id="151" name="Google Shape;151;p20"/>
          <p:cNvSpPr txBox="1"/>
          <p:nvPr>
            <p:ph idx="1" type="body"/>
          </p:nvPr>
        </p:nvSpPr>
        <p:spPr>
          <a:xfrm>
            <a:off x="729450" y="2078875"/>
            <a:ext cx="3842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Use cyan, magenta, and yellow as primary color components.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Less light-absorbing blocks.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CYM is a subtractive color space. RGB is an additive color space. Interpolating the missing colors at each position is trickier.</a:t>
            </a:r>
            <a:endParaRPr/>
          </a:p>
        </p:txBody>
      </p:sp>
      <p:pic>
        <p:nvPicPr>
          <p:cNvPr id="152" name="Google Shape;15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2563" y="2340863"/>
            <a:ext cx="1387675" cy="1382117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0"/>
          <p:cNvSpPr txBox="1"/>
          <p:nvPr/>
        </p:nvSpPr>
        <p:spPr>
          <a:xfrm>
            <a:off x="5248800" y="4760400"/>
            <a:ext cx="38952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600"/>
              <a:t>Image source: Olivier Losson, Ludovic Macaire, and Yanqin Yang. Comparison of color demosaicing methods. In Advances in Imaging and electron Physics, volume 162, pages 173–265. Elsevier, 2010.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" name="Google Shape;154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Burtoni Filter</a:t>
            </a:r>
            <a:endParaRPr/>
          </a:p>
        </p:txBody>
      </p:sp>
      <p:sp>
        <p:nvSpPr>
          <p:cNvPr id="160" name="Google Shape;160;p21"/>
          <p:cNvSpPr txBox="1"/>
          <p:nvPr>
            <p:ph idx="1" type="body"/>
          </p:nvPr>
        </p:nvSpPr>
        <p:spPr>
          <a:xfrm>
            <a:off x="729450" y="2078875"/>
            <a:ext cx="3842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Proposed by </a:t>
            </a:r>
            <a:r>
              <a:rPr b="1" lang="en-CA" sz="115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Ronald H H Kroger</a:t>
            </a:r>
            <a:endParaRPr b="1" sz="1150">
              <a:solidFill>
                <a:srgbClr val="231F2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Drew inspiration from the cone cells of cichlid fish</a:t>
            </a:r>
            <a:endParaRPr sz="850">
              <a:solidFill>
                <a:srgbClr val="231F2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Reduce aliasing artifacts by incorporating more spatial frequencies and geometris of different colors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Trickier to demosaic</a:t>
            </a:r>
            <a:endParaRPr/>
          </a:p>
        </p:txBody>
      </p:sp>
      <p:pic>
        <p:nvPicPr>
          <p:cNvPr id="161" name="Google Shape;16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0900" y="2208650"/>
            <a:ext cx="1370997" cy="138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1"/>
          <p:cNvSpPr txBox="1"/>
          <p:nvPr/>
        </p:nvSpPr>
        <p:spPr>
          <a:xfrm>
            <a:off x="5248800" y="4760400"/>
            <a:ext cx="38952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600"/>
              <a:t>Image source: Olivier Losson, Ludovic Macaire, and Yanqin Yang. Comparison of color demosaicing methods. In Advances in Imaging and electron Physics, volume 162, pages 173–265. Elsevier, 2010.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3" name="Google Shape;163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Demosaicing of Bayer Patterned Color Images</a:t>
            </a:r>
            <a:endParaRPr/>
          </a:p>
        </p:txBody>
      </p:sp>
      <p:sp>
        <p:nvSpPr>
          <p:cNvPr id="169" name="Google Shape;169;p22"/>
          <p:cNvSpPr txBox="1"/>
          <p:nvPr>
            <p:ph idx="1" type="body"/>
          </p:nvPr>
        </p:nvSpPr>
        <p:spPr>
          <a:xfrm>
            <a:off x="729450" y="2078875"/>
            <a:ext cx="5486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D</a:t>
            </a:r>
            <a:r>
              <a:rPr lang="en-CA"/>
              <a:t>igital cameras use  </a:t>
            </a:r>
            <a:r>
              <a:rPr lang="en-CA"/>
              <a:t>charge-coupled device (CCD) sensor, with the CCD pixels preceded in the optical path by a color filter array (CFA) in a Bayer mosaic pattern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Demosaicing: the problem of interpolating back the images captured by CFA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6063" y="2252150"/>
            <a:ext cx="1914525" cy="1914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172" name="Google Shape;172;p22"/>
          <p:cNvSpPr txBox="1"/>
          <p:nvPr/>
        </p:nvSpPr>
        <p:spPr>
          <a:xfrm>
            <a:off x="1189950" y="4501800"/>
            <a:ext cx="6764100" cy="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highlight>
                  <a:srgbClr val="FFFFFF"/>
                </a:highlight>
              </a:rPr>
              <a:t>Image source: Henrique S Malvar, Li-wei He, and Ross Cutler. High-quality linear interpolation for demosaicing of bayer-patterned color images. In</a:t>
            </a:r>
            <a:endParaRPr sz="9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highlight>
                  <a:srgbClr val="FFFFFF"/>
                </a:highlight>
              </a:rPr>
              <a:t>2004 IEEE International Conference on Acoustics, Speech, and Signal Processing, volume 3, pages iii–485. IEEE, 2004.</a:t>
            </a:r>
            <a:endParaRPr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Bilinear Interpolation</a:t>
            </a:r>
            <a:endParaRPr/>
          </a:p>
        </p:txBody>
      </p:sp>
      <p:sp>
        <p:nvSpPr>
          <p:cNvPr id="178" name="Google Shape;178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CA"/>
              <a:t>At pixel position (i,j), estimating the green value:</a:t>
            </a:r>
            <a:endParaRPr/>
          </a:p>
        </p:txBody>
      </p:sp>
      <p:pic>
        <p:nvPicPr>
          <p:cNvPr id="179" name="Google Shape;17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6063" y="2252150"/>
            <a:ext cx="1914525" cy="191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79725" y="2702500"/>
            <a:ext cx="3354154" cy="101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Bilinear Interpolation</a:t>
            </a:r>
            <a:endParaRPr/>
          </a:p>
        </p:txBody>
      </p:sp>
      <p:sp>
        <p:nvSpPr>
          <p:cNvPr id="187" name="Google Shape;187;p24"/>
          <p:cNvSpPr txBox="1"/>
          <p:nvPr>
            <p:ph idx="1" type="body"/>
          </p:nvPr>
        </p:nvSpPr>
        <p:spPr>
          <a:xfrm>
            <a:off x="729450" y="2078875"/>
            <a:ext cx="53994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Pros: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CA"/>
              <a:t>	Simple to compute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CA"/>
              <a:t>Cons: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/>
              <a:t>	Generates significant artifacts, especially across edges and other high-frequency content</a:t>
            </a:r>
            <a:endParaRPr/>
          </a:p>
        </p:txBody>
      </p:sp>
      <p:pic>
        <p:nvPicPr>
          <p:cNvPr id="188" name="Google Shape;18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6063" y="2252150"/>
            <a:ext cx="1914525" cy="1914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Gradient-corrected bilinear interpolation</a:t>
            </a:r>
            <a:endParaRPr/>
          </a:p>
        </p:txBody>
      </p:sp>
      <p:sp>
        <p:nvSpPr>
          <p:cNvPr id="195" name="Google Shape;195;p25"/>
          <p:cNvSpPr txBox="1"/>
          <p:nvPr>
            <p:ph idx="1" type="body"/>
          </p:nvPr>
        </p:nvSpPr>
        <p:spPr>
          <a:xfrm>
            <a:off x="729450" y="2078875"/>
            <a:ext cx="4542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E</a:t>
            </a:r>
            <a:r>
              <a:rPr lang="en-CA"/>
              <a:t>dges have much stronger luminance than </a:t>
            </a:r>
            <a:r>
              <a:rPr lang="en-CA"/>
              <a:t>chrominance </a:t>
            </a:r>
            <a:r>
              <a:rPr lang="en-CA"/>
              <a:t>components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/>
              <a:t>There’s a sharp luminance change at that pixel when </a:t>
            </a:r>
            <a:r>
              <a:rPr lang="en-CA"/>
              <a:t>there’s a sharp change in one color channel </a:t>
            </a:r>
            <a:endParaRPr/>
          </a:p>
        </p:txBody>
      </p:sp>
      <p:pic>
        <p:nvPicPr>
          <p:cNvPr id="196" name="Google Shape;19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6050" y="1853850"/>
            <a:ext cx="2829581" cy="319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198" name="Google Shape;198;p25"/>
          <p:cNvSpPr txBox="1"/>
          <p:nvPr/>
        </p:nvSpPr>
        <p:spPr>
          <a:xfrm>
            <a:off x="699750" y="4406475"/>
            <a:ext cx="46017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highlight>
                  <a:srgbClr val="FFFFFF"/>
                </a:highlight>
              </a:rPr>
              <a:t>Image source: </a:t>
            </a:r>
            <a:r>
              <a:rPr lang="en-CA" sz="900">
                <a:highlight>
                  <a:srgbClr val="FFFFFF"/>
                </a:highlight>
              </a:rPr>
              <a:t>Henrique S Malvar</a:t>
            </a:r>
            <a:r>
              <a:rPr lang="en-CA" sz="900">
                <a:highlight>
                  <a:srgbClr val="FFFFFF"/>
                </a:highlight>
              </a:rPr>
              <a:t>, Li-wei He, and Ross Cutler. High-quality linear interpolation for demosaicing of bayer-patterned color images. In</a:t>
            </a:r>
            <a:endParaRPr sz="9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highlight>
                  <a:srgbClr val="FFFFFF"/>
                </a:highlight>
              </a:rPr>
              <a:t>2004 IEEE International Conference on Acoustics, Speech, and Signal Processing, volume 3, pages iii–485. IEEE, 2004.</a:t>
            </a:r>
            <a:endParaRPr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Gradient-corrected bilinear interpolation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6702" y="2207350"/>
            <a:ext cx="3944350" cy="200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0150" y="2207350"/>
            <a:ext cx="3400425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2575" y="2978375"/>
            <a:ext cx="4375563" cy="101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Gradient-corrected bilinear interpolation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5" name="Google Shape;21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0100" y="2328025"/>
            <a:ext cx="302895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8050" y="1935176"/>
            <a:ext cx="2830100" cy="3098873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Gradient-corrected bilinear interpolation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4" name="Google Shape;22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4650" y="2409713"/>
            <a:ext cx="3200400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9400" y="926825"/>
            <a:ext cx="1706950" cy="4116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Gradient-corrected bilinear interpolation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CA"/>
              <a:t>Gain factor:</a:t>
            </a:r>
            <a:endParaRPr/>
          </a:p>
        </p:txBody>
      </p:sp>
      <p:pic>
        <p:nvPicPr>
          <p:cNvPr id="233" name="Google Shape;23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6350" y="2571750"/>
            <a:ext cx="32956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pic>
        <p:nvPicPr>
          <p:cNvPr id="235" name="Google Shape;23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6050" y="1853850"/>
            <a:ext cx="2829581" cy="319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Metrics for Evaluation </a:t>
            </a:r>
            <a:endParaRPr/>
          </a:p>
        </p:txBody>
      </p:sp>
      <p:sp>
        <p:nvSpPr>
          <p:cNvPr id="241" name="Google Shape;241;p3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CA"/>
              <a:t>The three primary metrics that would be used for evaluation of our hypothesis are</a:t>
            </a:r>
            <a:endParaRPr/>
          </a:p>
        </p:txBody>
      </p:sp>
      <p:sp>
        <p:nvSpPr>
          <p:cNvPr id="242" name="Google Shape;242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243" name="Google Shape;243;p30"/>
          <p:cNvSpPr/>
          <p:nvPr/>
        </p:nvSpPr>
        <p:spPr>
          <a:xfrm>
            <a:off x="1425875" y="2960275"/>
            <a:ext cx="1460100" cy="1379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Lato"/>
                <a:ea typeface="Lato"/>
                <a:cs typeface="Lato"/>
                <a:sym typeface="Lato"/>
              </a:rPr>
              <a:t>PSNR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4" name="Google Shape;244;p30"/>
          <p:cNvSpPr/>
          <p:nvPr/>
        </p:nvSpPr>
        <p:spPr>
          <a:xfrm>
            <a:off x="3841950" y="2960275"/>
            <a:ext cx="1460100" cy="1379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Lato"/>
                <a:ea typeface="Lato"/>
                <a:cs typeface="Lato"/>
                <a:sym typeface="Lato"/>
              </a:rPr>
              <a:t>SSIM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5" name="Google Shape;245;p30"/>
          <p:cNvSpPr/>
          <p:nvPr/>
        </p:nvSpPr>
        <p:spPr>
          <a:xfrm>
            <a:off x="6258025" y="2960275"/>
            <a:ext cx="1460100" cy="1379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Lato"/>
                <a:ea typeface="Lato"/>
                <a:cs typeface="Lato"/>
                <a:sym typeface="Lato"/>
              </a:rPr>
              <a:t>VMAF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Peak Signal-to-Noise Ratio (PSNR)</a:t>
            </a:r>
            <a:endParaRPr/>
          </a:p>
        </p:txBody>
      </p:sp>
      <p:sp>
        <p:nvSpPr>
          <p:cNvPr id="251" name="Google Shape;251;p31"/>
          <p:cNvSpPr txBox="1"/>
          <p:nvPr>
            <p:ph idx="1" type="body"/>
          </p:nvPr>
        </p:nvSpPr>
        <p:spPr>
          <a:xfrm>
            <a:off x="729450" y="2078875"/>
            <a:ext cx="35301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The peak signal to noise ratio is the ratio of the maximum possible signal power to the power of the distorting noise that affects the quality of its representation.</a:t>
            </a:r>
            <a:br>
              <a:rPr lang="en-CA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PSNR </a:t>
            </a:r>
            <a:r>
              <a:rPr lang="en-CA"/>
              <a:t>values are measured in decibels (dB).</a:t>
            </a:r>
            <a:br>
              <a:rPr lang="en-CA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The higher the PSNR value, the better the image quality.</a:t>
            </a:r>
            <a:endParaRPr/>
          </a:p>
        </p:txBody>
      </p:sp>
      <p:sp>
        <p:nvSpPr>
          <p:cNvPr id="252" name="Google Shape;252;p3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pic>
        <p:nvPicPr>
          <p:cNvPr id="253" name="Google Shape;25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9625" y="2168275"/>
            <a:ext cx="4133850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Structural Similarity Index Measure (SSIM)</a:t>
            </a:r>
            <a:endParaRPr/>
          </a:p>
        </p:txBody>
      </p:sp>
      <p:sp>
        <p:nvSpPr>
          <p:cNvPr id="259" name="Google Shape;259;p32"/>
          <p:cNvSpPr txBox="1"/>
          <p:nvPr>
            <p:ph idx="1" type="body"/>
          </p:nvPr>
        </p:nvSpPr>
        <p:spPr>
          <a:xfrm>
            <a:off x="844350" y="2038700"/>
            <a:ext cx="7573800" cy="20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The SSIM metric is a perception based model that uses structural information to measure the quality of images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It breaks image distortion into the 3 components below  to quantify image quality.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CA"/>
              <a:t>Luminance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CA"/>
              <a:t>Contrast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CA"/>
              <a:t>Structure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SSIM values are on a scale of 0 -1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It aligns well with the Human Visual System and has great accuracy.</a:t>
            </a:r>
            <a:endParaRPr/>
          </a:p>
        </p:txBody>
      </p:sp>
      <p:sp>
        <p:nvSpPr>
          <p:cNvPr id="260" name="Google Shape;260;p3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pic>
        <p:nvPicPr>
          <p:cNvPr id="261" name="Google Shape;26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8513" y="4050450"/>
            <a:ext cx="5270575" cy="80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Structural Similarity Index Measure (SSIM)</a:t>
            </a:r>
            <a:endParaRPr/>
          </a:p>
        </p:txBody>
      </p:sp>
      <p:sp>
        <p:nvSpPr>
          <p:cNvPr id="267" name="Google Shape;267;p3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pic>
        <p:nvPicPr>
          <p:cNvPr id="268" name="Google Shape;26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6300" y="1828300"/>
            <a:ext cx="3810000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675" y="1908013"/>
            <a:ext cx="4062724" cy="260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Video Multimethod Assessment Fusion (VMAF)</a:t>
            </a:r>
            <a:endParaRPr/>
          </a:p>
        </p:txBody>
      </p:sp>
      <p:sp>
        <p:nvSpPr>
          <p:cNvPr id="275" name="Google Shape;275;p34"/>
          <p:cNvSpPr txBox="1"/>
          <p:nvPr>
            <p:ph idx="1" type="body"/>
          </p:nvPr>
        </p:nvSpPr>
        <p:spPr>
          <a:xfrm>
            <a:off x="522375" y="1918150"/>
            <a:ext cx="3295200" cy="29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VMAF is a metric that was developed by Netflix and 3 universities</a:t>
            </a:r>
            <a:br>
              <a:rPr lang="en-CA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VMAF combines multiple image quality metrics using machine learning to predict image quality.</a:t>
            </a:r>
            <a:br>
              <a:rPr lang="en-CA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VMAF scores range from 0-100.</a:t>
            </a:r>
            <a:endParaRPr/>
          </a:p>
        </p:txBody>
      </p:sp>
      <p:sp>
        <p:nvSpPr>
          <p:cNvPr id="276" name="Google Shape;276;p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pic>
        <p:nvPicPr>
          <p:cNvPr id="277" name="Google Shape;27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7575" y="1918150"/>
            <a:ext cx="5076999" cy="2902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35"/>
          <p:cNvPicPr preferRelativeResize="0"/>
          <p:nvPr/>
        </p:nvPicPr>
        <p:blipFill rotWithShape="1">
          <a:blip r:embed="rId3">
            <a:alphaModFix/>
          </a:blip>
          <a:srcRect b="2695" l="2725" r="2336" t="2761"/>
          <a:stretch/>
        </p:blipFill>
        <p:spPr>
          <a:xfrm>
            <a:off x="3223288" y="512163"/>
            <a:ext cx="5184573" cy="4570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5"/>
          <p:cNvPicPr preferRelativeResize="0"/>
          <p:nvPr/>
        </p:nvPicPr>
        <p:blipFill rotWithShape="1">
          <a:blip r:embed="rId4">
            <a:alphaModFix/>
          </a:blip>
          <a:srcRect b="16728" l="5304" r="4190" t="17283"/>
          <a:stretch/>
        </p:blipFill>
        <p:spPr>
          <a:xfrm>
            <a:off x="0" y="2508950"/>
            <a:ext cx="3268174" cy="6554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4" name="Google Shape;284;p35"/>
          <p:cNvGrpSpPr/>
          <p:nvPr/>
        </p:nvGrpSpPr>
        <p:grpSpPr>
          <a:xfrm>
            <a:off x="6117946" y="1693971"/>
            <a:ext cx="2344500" cy="1862095"/>
            <a:chOff x="6070096" y="1803221"/>
            <a:chExt cx="2344500" cy="1862095"/>
          </a:xfrm>
        </p:grpSpPr>
        <p:sp>
          <p:nvSpPr>
            <p:cNvPr id="285" name="Google Shape;285;p35"/>
            <p:cNvSpPr/>
            <p:nvPr/>
          </p:nvSpPr>
          <p:spPr>
            <a:xfrm>
              <a:off x="6070096" y="1803221"/>
              <a:ext cx="2344500" cy="1406100"/>
            </a:xfrm>
            <a:prstGeom prst="rect">
              <a:avLst/>
            </a:prstGeom>
            <a:noFill/>
            <a:ln cap="flat" cmpd="sng" w="38100">
              <a:solidFill>
                <a:schemeClr val="accent3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35"/>
            <p:cNvSpPr txBox="1"/>
            <p:nvPr/>
          </p:nvSpPr>
          <p:spPr>
            <a:xfrm>
              <a:off x="6381333" y="3203616"/>
              <a:ext cx="1637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CA" sz="2400" u="none" cap="none" strike="noStrike">
                  <a:solidFill>
                    <a:schemeClr val="accent3"/>
                  </a:solidFill>
                  <a:latin typeface="Arial"/>
                  <a:ea typeface="Arial"/>
                  <a:cs typeface="Arial"/>
                  <a:sym typeface="Arial"/>
                </a:rPr>
                <a:t>Evaluation</a:t>
              </a:r>
              <a:endParaRPr/>
            </a:p>
          </p:txBody>
        </p:sp>
      </p:grpSp>
      <p:grpSp>
        <p:nvGrpSpPr>
          <p:cNvPr id="287" name="Google Shape;287;p35"/>
          <p:cNvGrpSpPr/>
          <p:nvPr/>
        </p:nvGrpSpPr>
        <p:grpSpPr>
          <a:xfrm>
            <a:off x="3280580" y="581890"/>
            <a:ext cx="5069995" cy="4431300"/>
            <a:chOff x="3337880" y="581890"/>
            <a:chExt cx="5069995" cy="4431300"/>
          </a:xfrm>
        </p:grpSpPr>
        <p:sp>
          <p:nvSpPr>
            <p:cNvPr id="288" name="Google Shape;288;p35"/>
            <p:cNvSpPr/>
            <p:nvPr/>
          </p:nvSpPr>
          <p:spPr>
            <a:xfrm>
              <a:off x="3337880" y="581890"/>
              <a:ext cx="2647200" cy="44313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35"/>
            <p:cNvSpPr txBox="1"/>
            <p:nvPr/>
          </p:nvSpPr>
          <p:spPr>
            <a:xfrm>
              <a:off x="5981175" y="614700"/>
              <a:ext cx="2426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CA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Re-demosaicing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A snowy mountain with trees&#10;&#10;Description automatically generated with medium confidence" id="290" name="Google Shape;290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11846" y="3883790"/>
            <a:ext cx="523899" cy="347741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5"/>
          <p:cNvSpPr txBox="1"/>
          <p:nvPr>
            <p:ph type="title"/>
          </p:nvPr>
        </p:nvSpPr>
        <p:spPr>
          <a:xfrm>
            <a:off x="729450" y="1318650"/>
            <a:ext cx="24939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CA"/>
              <a:t>Implementation</a:t>
            </a:r>
            <a:endParaRPr/>
          </a:p>
        </p:txBody>
      </p:sp>
      <p:pic>
        <p:nvPicPr>
          <p:cNvPr descr="A snowy landscape with trees and a mountain in the background&#10;&#10;Description automatically generated" id="292" name="Google Shape;292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07426" y="2620629"/>
            <a:ext cx="532738" cy="3538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nowy mountain with trees&#10;&#10;Description automatically generated with medium confidence" id="293" name="Google Shape;293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11861" y="1600861"/>
            <a:ext cx="523899" cy="347741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6"/>
          <p:cNvSpPr txBox="1"/>
          <p:nvPr>
            <p:ph type="title"/>
          </p:nvPr>
        </p:nvSpPr>
        <p:spPr>
          <a:xfrm>
            <a:off x="724325" y="1214925"/>
            <a:ext cx="34203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CA">
                <a:latin typeface="Courier New"/>
                <a:ea typeface="Courier New"/>
                <a:cs typeface="Courier New"/>
                <a:sym typeface="Courier New"/>
              </a:rPr>
              <a:t>Mosaic()</a:t>
            </a:r>
            <a:r>
              <a:rPr lang="en-CA"/>
              <a:t>: RGB -&gt; CFA</a:t>
            </a:r>
            <a:endParaRPr/>
          </a:p>
        </p:txBody>
      </p:sp>
      <p:pic>
        <p:nvPicPr>
          <p:cNvPr id="300" name="Google Shape;30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050" y="2951250"/>
            <a:ext cx="19240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0475" y="2960775"/>
            <a:ext cx="1905000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03400" y="2111400"/>
            <a:ext cx="809115" cy="82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89213" y="3199500"/>
            <a:ext cx="809125" cy="80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89200" y="4245350"/>
            <a:ext cx="809125" cy="79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74442" y="493275"/>
            <a:ext cx="1769558" cy="181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31475" y="2129730"/>
            <a:ext cx="809125" cy="784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657870" y="3193120"/>
            <a:ext cx="809125" cy="792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668500" y="4264625"/>
            <a:ext cx="809125" cy="80102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6"/>
          <p:cNvSpPr txBox="1"/>
          <p:nvPr/>
        </p:nvSpPr>
        <p:spPr>
          <a:xfrm>
            <a:off x="-35725" y="2489400"/>
            <a:ext cx="2187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5x5x3 RGB image</a:t>
            </a:r>
            <a:endParaRPr sz="2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0" name="Google Shape;310;p36"/>
          <p:cNvSpPr txBox="1"/>
          <p:nvPr/>
        </p:nvSpPr>
        <p:spPr>
          <a:xfrm>
            <a:off x="6920475" y="2489400"/>
            <a:ext cx="190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5x5 CFA image</a:t>
            </a:r>
            <a:endParaRPr sz="2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1" name="Google Shape;311;p3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sp>
        <p:nvSpPr>
          <p:cNvPr id="312" name="Google Shape;312;p36"/>
          <p:cNvSpPr txBox="1"/>
          <p:nvPr/>
        </p:nvSpPr>
        <p:spPr>
          <a:xfrm>
            <a:off x="2350325" y="2264000"/>
            <a:ext cx="295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0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R</a:t>
            </a:r>
            <a:endParaRPr sz="20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3" name="Google Shape;313;p36"/>
          <p:cNvSpPr txBox="1"/>
          <p:nvPr/>
        </p:nvSpPr>
        <p:spPr>
          <a:xfrm>
            <a:off x="2350325" y="3363175"/>
            <a:ext cx="295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0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G</a:t>
            </a:r>
            <a:endParaRPr sz="20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4" name="Google Shape;314;p36"/>
          <p:cNvSpPr txBox="1"/>
          <p:nvPr/>
        </p:nvSpPr>
        <p:spPr>
          <a:xfrm>
            <a:off x="2350313" y="4431613"/>
            <a:ext cx="295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0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B</a:t>
            </a:r>
            <a:endParaRPr sz="20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5" name="Google Shape;315;p36"/>
          <p:cNvSpPr txBox="1"/>
          <p:nvPr/>
        </p:nvSpPr>
        <p:spPr>
          <a:xfrm>
            <a:off x="2350313" y="1698625"/>
            <a:ext cx="151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RGB channels</a:t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6" name="Google Shape;316;p36"/>
          <p:cNvSpPr txBox="1"/>
          <p:nvPr/>
        </p:nvSpPr>
        <p:spPr>
          <a:xfrm>
            <a:off x="3945000" y="1698625"/>
            <a:ext cx="125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BGGR mask</a:t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7" name="Google Shape;317;p36"/>
          <p:cNvSpPr txBox="1"/>
          <p:nvPr/>
        </p:nvSpPr>
        <p:spPr>
          <a:xfrm>
            <a:off x="5338463" y="1698625"/>
            <a:ext cx="1423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selected </a:t>
            </a:r>
            <a:r>
              <a:rPr lang="en-CA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RGB</a:t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8" name="Google Shape;318;p36"/>
          <p:cNvSpPr txBox="1"/>
          <p:nvPr/>
        </p:nvSpPr>
        <p:spPr>
          <a:xfrm>
            <a:off x="3662402" y="2306600"/>
            <a:ext cx="24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✕</a:t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9" name="Google Shape;319;p36"/>
          <p:cNvSpPr txBox="1"/>
          <p:nvPr/>
        </p:nvSpPr>
        <p:spPr>
          <a:xfrm>
            <a:off x="3662402" y="3374050"/>
            <a:ext cx="24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✕</a:t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0" name="Google Shape;320;p36"/>
          <p:cNvSpPr txBox="1"/>
          <p:nvPr/>
        </p:nvSpPr>
        <p:spPr>
          <a:xfrm>
            <a:off x="3662402" y="4441500"/>
            <a:ext cx="24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✕</a:t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1" name="Google Shape;321;p36"/>
          <p:cNvSpPr txBox="1"/>
          <p:nvPr/>
        </p:nvSpPr>
        <p:spPr>
          <a:xfrm>
            <a:off x="5179202" y="2291300"/>
            <a:ext cx="24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=</a:t>
            </a:r>
            <a:endParaRPr sz="24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2" name="Google Shape;322;p36"/>
          <p:cNvSpPr txBox="1"/>
          <p:nvPr/>
        </p:nvSpPr>
        <p:spPr>
          <a:xfrm>
            <a:off x="5179227" y="3358750"/>
            <a:ext cx="24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=</a:t>
            </a:r>
            <a:endParaRPr sz="24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3" name="Google Shape;323;p36"/>
          <p:cNvSpPr txBox="1"/>
          <p:nvPr/>
        </p:nvSpPr>
        <p:spPr>
          <a:xfrm>
            <a:off x="5186302" y="4426200"/>
            <a:ext cx="24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=</a:t>
            </a:r>
            <a:endParaRPr sz="24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24" name="Google Shape;324;p3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117849" y="2107271"/>
            <a:ext cx="809126" cy="829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36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141057" y="3183421"/>
            <a:ext cx="809124" cy="832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6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144587" y="4225649"/>
            <a:ext cx="809126" cy="832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CA">
                <a:latin typeface="Courier New"/>
                <a:ea typeface="Courier New"/>
                <a:cs typeface="Courier New"/>
                <a:sym typeface="Courier New"/>
              </a:rPr>
              <a:t>Demosaic()</a:t>
            </a:r>
            <a:r>
              <a:rPr lang="en-CA"/>
              <a:t>: CFA -&gt; RGB</a:t>
            </a:r>
            <a:endParaRPr/>
          </a:p>
        </p:txBody>
      </p:sp>
      <p:sp>
        <p:nvSpPr>
          <p:cNvPr id="332" name="Google Shape;332;p3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en-CA" sz="2000">
                <a:solidFill>
                  <a:schemeClr val="dk2"/>
                </a:solidFill>
              </a:rPr>
              <a:t>Gradient-corrected bilinear interpolation</a:t>
            </a:r>
            <a:r>
              <a:rPr lang="en-CA" sz="2000">
                <a:solidFill>
                  <a:schemeClr val="dk2"/>
                </a:solidFill>
              </a:rPr>
              <a:t> [</a:t>
            </a:r>
            <a:r>
              <a:rPr i="1" lang="en-CA" sz="2000">
                <a:solidFill>
                  <a:schemeClr val="dk2"/>
                </a:solidFill>
              </a:rPr>
              <a:t>Malvar et. al. 2004</a:t>
            </a:r>
            <a:r>
              <a:rPr lang="en-CA" sz="2000">
                <a:solidFill>
                  <a:schemeClr val="dk2"/>
                </a:solidFill>
              </a:rPr>
              <a:t>]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en-CA" sz="2000">
                <a:solidFill>
                  <a:schemeClr val="dk2"/>
                </a:solidFill>
              </a:rPr>
              <a:t>5x5 convolution kernels to correct bilinear interpolation</a:t>
            </a:r>
            <a:endParaRPr sz="2000">
              <a:solidFill>
                <a:schemeClr val="dk2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urier New"/>
              <a:buChar char="○"/>
            </a:pPr>
            <a:r>
              <a:rPr lang="en-CA" sz="20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OpenCV.filter2D(</a:t>
            </a:r>
            <a:r>
              <a:rPr lang="en-CA" sz="20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20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urier New"/>
              <a:buChar char="○"/>
            </a:pPr>
            <a:r>
              <a:rPr lang="en-CA" sz="20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PyTorch.conv2d()</a:t>
            </a:r>
            <a:endParaRPr sz="20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3" name="Google Shape;333;p3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8"/>
          <p:cNvSpPr txBox="1"/>
          <p:nvPr>
            <p:ph type="title"/>
          </p:nvPr>
        </p:nvSpPr>
        <p:spPr>
          <a:xfrm>
            <a:off x="738775" y="1200300"/>
            <a:ext cx="66279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CA">
                <a:latin typeface="Courier New"/>
                <a:ea typeface="Courier New"/>
                <a:cs typeface="Courier New"/>
                <a:sym typeface="Courier New"/>
              </a:rPr>
              <a:t>PyTorch.conv2d</a:t>
            </a:r>
            <a:r>
              <a:rPr lang="en-CA"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CA"/>
              <a:t>: corrected interpolation</a:t>
            </a:r>
            <a:endParaRPr/>
          </a:p>
        </p:txBody>
      </p:sp>
      <p:sp>
        <p:nvSpPr>
          <p:cNvPr id="339" name="Google Shape;339;p3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pic>
        <p:nvPicPr>
          <p:cNvPr id="340" name="Google Shape;34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775" y="2706840"/>
            <a:ext cx="1769550" cy="175186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8"/>
          <p:cNvSpPr txBox="1"/>
          <p:nvPr/>
        </p:nvSpPr>
        <p:spPr>
          <a:xfrm>
            <a:off x="671050" y="2214250"/>
            <a:ext cx="190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5x5 CFA image</a:t>
            </a:r>
            <a:endParaRPr sz="2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42" name="Google Shape;342;p38"/>
          <p:cNvPicPr preferRelativeResize="0"/>
          <p:nvPr/>
        </p:nvPicPr>
        <p:blipFill rotWithShape="1">
          <a:blip r:embed="rId4">
            <a:alphaModFix/>
          </a:blip>
          <a:srcRect b="0" l="1332" r="0" t="0"/>
          <a:stretch/>
        </p:blipFill>
        <p:spPr>
          <a:xfrm>
            <a:off x="5233475" y="2027084"/>
            <a:ext cx="3069975" cy="3111391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8"/>
          <p:cNvSpPr/>
          <p:nvPr/>
        </p:nvSpPr>
        <p:spPr>
          <a:xfrm>
            <a:off x="5883625" y="2706775"/>
            <a:ext cx="1769700" cy="1752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4" name="Google Shape;344;p38"/>
          <p:cNvSpPr txBox="1"/>
          <p:nvPr/>
        </p:nvSpPr>
        <p:spPr>
          <a:xfrm>
            <a:off x="5146513" y="1534475"/>
            <a:ext cx="324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9</a:t>
            </a:r>
            <a:r>
              <a:rPr lang="en-CA" sz="2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x9 </a:t>
            </a:r>
            <a:r>
              <a:rPr lang="en-CA" sz="20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reflection101</a:t>
            </a:r>
            <a:r>
              <a:rPr lang="en-CA" sz="2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CFA</a:t>
            </a:r>
            <a:endParaRPr sz="2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45" name="Google Shape;345;p38"/>
          <p:cNvCxnSpPr>
            <a:stCxn id="340" idx="3"/>
            <a:endCxn id="342" idx="1"/>
          </p:cNvCxnSpPr>
          <p:nvPr/>
        </p:nvCxnSpPr>
        <p:spPr>
          <a:xfrm>
            <a:off x="2508325" y="3582770"/>
            <a:ext cx="27252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6" name="Google Shape;346;p38"/>
          <p:cNvSpPr txBox="1"/>
          <p:nvPr/>
        </p:nvSpPr>
        <p:spPr>
          <a:xfrm>
            <a:off x="2661300" y="3062100"/>
            <a:ext cx="241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reflectionpad(2)</a:t>
            </a:r>
            <a:endParaRPr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7" name="Google Shape;347;p38"/>
          <p:cNvSpPr txBox="1"/>
          <p:nvPr/>
        </p:nvSpPr>
        <p:spPr>
          <a:xfrm>
            <a:off x="2696550" y="3641750"/>
            <a:ext cx="234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(2+</a:t>
            </a:r>
            <a:r>
              <a:rPr lang="en-CA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5+2)</a:t>
            </a:r>
            <a:r>
              <a:rPr lang="en-CA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✕</a:t>
            </a:r>
            <a:r>
              <a:rPr lang="en-CA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(2+5+2)</a:t>
            </a:r>
            <a:endParaRPr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9"/>
          <p:cNvSpPr txBox="1"/>
          <p:nvPr>
            <p:ph type="title"/>
          </p:nvPr>
        </p:nvSpPr>
        <p:spPr>
          <a:xfrm>
            <a:off x="738775" y="1200300"/>
            <a:ext cx="83463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CA">
                <a:latin typeface="Courier New"/>
                <a:ea typeface="Courier New"/>
                <a:cs typeface="Courier New"/>
                <a:sym typeface="Courier New"/>
              </a:rPr>
              <a:t>conv2d(9x9_reflection_CFA, 5x5_GR_GB_kernel)</a:t>
            </a:r>
            <a:endParaRPr/>
          </a:p>
        </p:txBody>
      </p:sp>
      <p:sp>
        <p:nvSpPr>
          <p:cNvPr id="353" name="Google Shape;353;p3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pic>
        <p:nvPicPr>
          <p:cNvPr id="354" name="Google Shape;35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6625" y="2706788"/>
            <a:ext cx="1709674" cy="1751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9"/>
          <p:cNvPicPr preferRelativeResize="0"/>
          <p:nvPr/>
        </p:nvPicPr>
        <p:blipFill rotWithShape="1">
          <a:blip r:embed="rId4">
            <a:alphaModFix/>
          </a:blip>
          <a:srcRect b="0" l="1332" r="0" t="0"/>
          <a:stretch/>
        </p:blipFill>
        <p:spPr>
          <a:xfrm>
            <a:off x="3037012" y="2027084"/>
            <a:ext cx="3069975" cy="3111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4151" y="2706850"/>
            <a:ext cx="1705426" cy="1751851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9"/>
          <p:cNvSpPr/>
          <p:nvPr/>
        </p:nvSpPr>
        <p:spPr>
          <a:xfrm>
            <a:off x="3687150" y="2706775"/>
            <a:ext cx="1769700" cy="1752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58" name="Google Shape;358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7001" y="2027075"/>
            <a:ext cx="1705426" cy="1751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19288" y="2027075"/>
            <a:ext cx="1705426" cy="1751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01576" y="2027075"/>
            <a:ext cx="1705426" cy="1751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26625" y="2706775"/>
            <a:ext cx="1769700" cy="17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9"/>
          <p:cNvSpPr txBox="1"/>
          <p:nvPr/>
        </p:nvSpPr>
        <p:spPr>
          <a:xfrm>
            <a:off x="6753425" y="2214175"/>
            <a:ext cx="191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5x5 </a:t>
            </a:r>
            <a:r>
              <a:rPr lang="en-CA" sz="20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G</a:t>
            </a:r>
            <a:r>
              <a:rPr lang="en-CA" sz="2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channel</a:t>
            </a:r>
            <a:endParaRPr sz="2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3" name="Google Shape;363;p39"/>
          <p:cNvSpPr txBox="1"/>
          <p:nvPr/>
        </p:nvSpPr>
        <p:spPr>
          <a:xfrm>
            <a:off x="398963" y="2214175"/>
            <a:ext cx="227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5x5 </a:t>
            </a:r>
            <a:r>
              <a:rPr lang="en-CA" sz="20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GR_GB</a:t>
            </a:r>
            <a:r>
              <a:rPr lang="en-CA" sz="2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kernel</a:t>
            </a:r>
            <a:endParaRPr sz="2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0"/>
          <p:cNvSpPr txBox="1"/>
          <p:nvPr>
            <p:ph type="title"/>
          </p:nvPr>
        </p:nvSpPr>
        <p:spPr>
          <a:xfrm>
            <a:off x="729450" y="1318650"/>
            <a:ext cx="8414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CA"/>
              <a:t>PSNR, SSIM, VMAF: poor similarity -&gt; fake image</a:t>
            </a:r>
            <a:endParaRPr/>
          </a:p>
        </p:txBody>
      </p:sp>
      <p:sp>
        <p:nvSpPr>
          <p:cNvPr id="369" name="Google Shape;369;p4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sp>
        <p:nvSpPr>
          <p:cNvPr id="370" name="Google Shape;370;p40"/>
          <p:cNvSpPr txBox="1"/>
          <p:nvPr>
            <p:ph idx="1" type="body"/>
          </p:nvPr>
        </p:nvSpPr>
        <p:spPr>
          <a:xfrm>
            <a:off x="729450" y="2078875"/>
            <a:ext cx="76887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en-CA" sz="2000">
                <a:solidFill>
                  <a:schemeClr val="dk2"/>
                </a:solidFill>
              </a:rPr>
              <a:t>measure similarity between original and re-demosaiced image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en-CA" sz="2000">
                <a:solidFill>
                  <a:schemeClr val="dk2"/>
                </a:solidFill>
              </a:rPr>
              <a:t>normal distribution, quantiles as thresholds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en-CA" sz="2000">
                <a:solidFill>
                  <a:schemeClr val="dk2"/>
                </a:solidFill>
              </a:rPr>
              <a:t>logistic regression, learn thresholds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4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4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pic>
        <p:nvPicPr>
          <p:cNvPr id="378" name="Google Shape;37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2086" y="433125"/>
            <a:ext cx="6803304" cy="4535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4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4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pic>
        <p:nvPicPr>
          <p:cNvPr id="386" name="Google Shape;38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225" y="417530"/>
            <a:ext cx="7688700" cy="4613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