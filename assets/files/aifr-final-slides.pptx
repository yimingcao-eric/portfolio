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PT Sans Narrow"/>
      <p:regular r:id="rId25"/>
      <p:bold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3FC5FE-4AD0-41E6-BF43-D0B00ACC4D0F}">
  <a:tblStyle styleId="{693FC5FE-4AD0-41E6-BF43-D0B00ACC4D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TSansNarrow-bold.fntdata"/><Relationship Id="rId25" Type="http://schemas.openxmlformats.org/officeDocument/2006/relationships/font" Target="fonts/PTSansNarrow-regular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8543d22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8543d22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6871164c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6871164c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68d05e88f0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68d05e88f0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68d05e88f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68d05e88f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6f713b351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6f713b351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f713b351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6f713b351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871164cd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871164cd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6871164cd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6871164cd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6f713b35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6f713b35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68dcb16e07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68dcb16e07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6f8a4e75b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6f8a4e75b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6f8a4e75b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6f8a4e75b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6f8a4e75ba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6f8a4e75b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cf3d9b46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cf3d9b46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cf88b83099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cf88b83099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cf88b83099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cf88b83099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cf88b83099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cf88b83099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cf3d9b462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cf3d9b462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hyperlink" Target="https://paperswithcode.com/dataset/ms-celeb-1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s://github.com/kbesenic/B3F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hyperlink" Target="https://paperswithcode.com/paper/learning-face-representation-from-scratch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hyperlink" Target="https://ibug.doc.ic.ac.uk/resources/agedb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hyperlink" Target="https://www.v7labs.com/blog/knowledge-distillation-gui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hyperlink" Target="https://hzzone.github.io/MTLFace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hyperlink" Target="https://arxiv.org/pdf/2109.09416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Age-Invariant Face Recognition Using Deep Learning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2062675" y="1710625"/>
            <a:ext cx="4714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By: Eric Cao, Yanjun Meng, Akhil Rajavaram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4"/>
          <p:cNvGrpSpPr/>
          <p:nvPr/>
        </p:nvGrpSpPr>
        <p:grpSpPr>
          <a:xfrm>
            <a:off x="1137300" y="1580500"/>
            <a:ext cx="6869400" cy="3461825"/>
            <a:chOff x="1137300" y="1603050"/>
            <a:chExt cx="6869400" cy="3461825"/>
          </a:xfrm>
        </p:grpSpPr>
        <p:pic>
          <p:nvPicPr>
            <p:cNvPr id="74" name="Google Shape;74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37300" y="1603050"/>
              <a:ext cx="6869276" cy="31231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14"/>
            <p:cNvSpPr txBox="1"/>
            <p:nvPr/>
          </p:nvSpPr>
          <p:spPr>
            <a:xfrm>
              <a:off x="1137300" y="4726175"/>
              <a:ext cx="6869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</a:rPr>
                <a:t>Demonstration from course materials</a:t>
              </a:r>
              <a:endParaRPr sz="1000">
                <a:solidFill>
                  <a:schemeClr val="dk2"/>
                </a:solidFill>
              </a:endParaRPr>
            </a:p>
          </p:txBody>
        </p:sp>
      </p:grpSp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– Goal</a:t>
            </a:r>
            <a:endParaRPr/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a deep learning network to verify identity regardless of 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</a:t>
            </a:r>
            <a:r>
              <a:rPr lang="en"/>
              <a:t>aset - M1SM (Training)</a:t>
            </a:r>
            <a:endParaRPr/>
          </a:p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311700" y="1152475"/>
            <a:ext cx="3218700" cy="29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Over 10 million images of nearly 100,000 individuals.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Includes a wide range of ages, poses, and expressions.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Large-scale dataset with wide age diversity.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Original dataset contains noise and requires cleaning.</a:t>
            </a:r>
            <a:endParaRPr sz="1600"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6050" y="1113825"/>
            <a:ext cx="3195150" cy="36603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3781125" y="4709750"/>
            <a:ext cx="5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Sample Image from the dataset</a:t>
            </a:r>
            <a:r>
              <a:rPr lang="en" sz="1200">
                <a:solidFill>
                  <a:schemeClr val="dk2"/>
                </a:solidFill>
              </a:rPr>
              <a:t> (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src</a:t>
            </a:r>
            <a:r>
              <a:rPr lang="en" sz="1200">
                <a:solidFill>
                  <a:schemeClr val="dk2"/>
                </a:solidFill>
              </a:rPr>
              <a:t>)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- B3FD (Training and Testing)</a:t>
            </a:r>
            <a:endParaRPr/>
          </a:p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311700" y="1152475"/>
            <a:ext cx="3218700" cy="32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375,592 facial image samples with age labels and 53,759 unique individuals.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Cleaned M1SM dataset of faulty samples for refined age estimation.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Automated cleaning may introduce biases in age distribution or other characteristics.</a:t>
            </a:r>
            <a:endParaRPr sz="1600"/>
          </a:p>
        </p:txBody>
      </p:sp>
      <p:pic>
        <p:nvPicPr>
          <p:cNvPr id="95" name="Google Shape;95;p16"/>
          <p:cNvPicPr preferRelativeResize="0"/>
          <p:nvPr/>
        </p:nvPicPr>
        <p:blipFill rotWithShape="1">
          <a:blip r:embed="rId3">
            <a:alphaModFix/>
          </a:blip>
          <a:srcRect b="0" l="0" r="0" t="18533"/>
          <a:stretch/>
        </p:blipFill>
        <p:spPr>
          <a:xfrm>
            <a:off x="3609175" y="1152475"/>
            <a:ext cx="5308801" cy="173313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3609175" y="2938225"/>
            <a:ext cx="5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Comparison of B3FD to other datasets </a:t>
            </a:r>
            <a:r>
              <a:rPr lang="en" sz="1200">
                <a:solidFill>
                  <a:schemeClr val="dk2"/>
                </a:solidFill>
              </a:rPr>
              <a:t>(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src</a:t>
            </a:r>
            <a:r>
              <a:rPr lang="en" sz="1200">
                <a:solidFill>
                  <a:schemeClr val="dk2"/>
                </a:solidFill>
              </a:rPr>
              <a:t>)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- Casia-WebFace (Testing)</a:t>
            </a:r>
            <a:endParaRPr/>
          </a:p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311700" y="1152475"/>
            <a:ext cx="3218700" cy="3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494,414 images of 10,575 subjects.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Images scraped from the IMDB website semi-automatically.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Used extensively for evaluating face recognition algorithms on standard benchmark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Known for incorrect labels and images that do not belong to the labeled subject</a:t>
            </a:r>
            <a:endParaRPr sz="1600"/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4125" y="1152425"/>
            <a:ext cx="3718325" cy="30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/>
        </p:nvSpPr>
        <p:spPr>
          <a:xfrm>
            <a:off x="4431825" y="4247125"/>
            <a:ext cx="43194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“main photo” is used as initial seed and the 58 photos in the “photo gallery” need to be annotated </a:t>
            </a:r>
            <a:r>
              <a:rPr lang="en" sz="1200">
                <a:solidFill>
                  <a:schemeClr val="dk2"/>
                </a:solidFill>
              </a:rPr>
              <a:t>(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src</a:t>
            </a:r>
            <a:r>
              <a:rPr lang="en" sz="1200">
                <a:solidFill>
                  <a:schemeClr val="dk2"/>
                </a:solidFill>
              </a:rPr>
              <a:t>)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- AgeDB (Testing)</a:t>
            </a:r>
            <a:endParaRPr/>
          </a:p>
        </p:txBody>
      </p:sp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311700" y="1152475"/>
            <a:ext cx="3218700" cy="32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16,488 images of 568 distinct subjects.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Manual Collection which ensures accurate, noise-free age labels.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Smaller size in comparison to other datasets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Limited number of subjects, better for benchmarking than training.</a:t>
            </a:r>
            <a:endParaRPr sz="1600"/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7475" y="1152475"/>
            <a:ext cx="4637257" cy="359107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/>
        </p:nvSpPr>
        <p:spPr>
          <a:xfrm>
            <a:off x="3593600" y="4719800"/>
            <a:ext cx="5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Sample images from the dataset</a:t>
            </a:r>
            <a:r>
              <a:rPr lang="en" sz="1200">
                <a:solidFill>
                  <a:schemeClr val="dk2"/>
                </a:solidFill>
              </a:rPr>
              <a:t> (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src</a:t>
            </a:r>
            <a:r>
              <a:rPr lang="en" sz="1200">
                <a:solidFill>
                  <a:schemeClr val="dk2"/>
                </a:solidFill>
              </a:rPr>
              <a:t>)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311700" y="1152475"/>
            <a:ext cx="3218700" cy="35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Training a smaller student model to emulate a larger teacher model </a:t>
            </a:r>
            <a:r>
              <a:rPr lang="en" sz="1600"/>
              <a:t>to distill knowledge.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Reduces model size and computational requirements.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Ideally student model learns to extract features that are invariant to age-related changes in the face.</a:t>
            </a:r>
            <a:endParaRPr sz="1600"/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3">
            <a:alphaModFix/>
          </a:blip>
          <a:srcRect b="10739" l="0" r="0" t="3622"/>
          <a:stretch/>
        </p:blipFill>
        <p:spPr>
          <a:xfrm>
            <a:off x="3447290" y="1152475"/>
            <a:ext cx="5385010" cy="337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r>
              <a:rPr lang="en"/>
              <a:t> – Knowledge Distillation</a:t>
            </a:r>
            <a:endParaRPr/>
          </a:p>
        </p:txBody>
      </p:sp>
      <p:sp>
        <p:nvSpPr>
          <p:cNvPr id="122" name="Google Shape;122;p19"/>
          <p:cNvSpPr txBox="1"/>
          <p:nvPr/>
        </p:nvSpPr>
        <p:spPr>
          <a:xfrm>
            <a:off x="3447375" y="4529500"/>
            <a:ext cx="5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Overview of the knowledge distillation training framework (</a:t>
            </a:r>
            <a:r>
              <a:rPr lang="en" sz="12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src</a:t>
            </a:r>
            <a:r>
              <a:rPr lang="en" sz="1200">
                <a:solidFill>
                  <a:schemeClr val="dk2"/>
                </a:solidFill>
              </a:rPr>
              <a:t>)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311700" y="4450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r>
              <a:rPr lang="en"/>
              <a:t> - MTLFace 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11700" y="1152475"/>
            <a:ext cx="374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Separates mixed face features into identity- and age-related components using an attention mechanism.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</a:t>
            </a:r>
            <a:r>
              <a:rPr lang="en" sz="1600"/>
              <a:t>ecorrelates identity features from age features, which is essential for AIFR as it reduces the intra-class discrepancy caused by aging.</a:t>
            </a:r>
            <a:endParaRPr sz="1600"/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7400" y="1152475"/>
            <a:ext cx="4785300" cy="227348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/>
        </p:nvSpPr>
        <p:spPr>
          <a:xfrm>
            <a:off x="4053900" y="3366325"/>
            <a:ext cx="502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Overview of the MTLFace methodology (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src</a:t>
            </a:r>
            <a:r>
              <a:rPr lang="en" sz="1200">
                <a:solidFill>
                  <a:schemeClr val="dk2"/>
                </a:solidFill>
              </a:rPr>
              <a:t>)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r>
              <a:rPr lang="en"/>
              <a:t> – ElasticFace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262188" y="1172125"/>
            <a:ext cx="8283000" cy="14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149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/>
              <a:t>The Elastic Margin Loss function introduces a dynamic margin into the training process. </a:t>
            </a:r>
            <a:endParaRPr sz="1600"/>
          </a:p>
          <a:p>
            <a:pPr indent="-3149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/>
              <a:t>Employs a margin that is randomly drawn from a normal distribution during each training iteration.</a:t>
            </a:r>
            <a:endParaRPr sz="1600"/>
          </a:p>
          <a:p>
            <a:pPr indent="-3149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/>
              <a:t>Allows the decision boundary to adjust dynamically to make features of the same individual more compact while ensuring features of different individuals are well-separated.</a:t>
            </a:r>
            <a:endParaRPr sz="1600"/>
          </a:p>
          <a:p>
            <a:pPr indent="-3149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/>
              <a:t>Has the ability to learn more complex decision boundaries and better generalize to new data.</a:t>
            </a:r>
            <a:endParaRPr sz="1600"/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764" y="2596275"/>
            <a:ext cx="8067825" cy="193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/>
        </p:nvSpPr>
        <p:spPr>
          <a:xfrm>
            <a:off x="2017100" y="4490225"/>
            <a:ext cx="502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Depiction of how the dynamic margin affects decision boundaries</a:t>
            </a:r>
            <a:r>
              <a:rPr lang="en" sz="1200">
                <a:solidFill>
                  <a:schemeClr val="dk2"/>
                </a:solidFill>
              </a:rPr>
              <a:t> (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src</a:t>
            </a:r>
            <a:r>
              <a:rPr lang="en" sz="1200">
                <a:solidFill>
                  <a:schemeClr val="dk2"/>
                </a:solidFill>
              </a:rPr>
              <a:t>)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- OursKD</a:t>
            </a:r>
            <a:endParaRPr/>
          </a:p>
        </p:txBody>
      </p:sp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4825"/>
            <a:ext cx="8167655" cy="3683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 function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401000" y="2168325"/>
            <a:ext cx="2925300" cy="24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L2 loss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Cross entropy loss</a:t>
            </a:r>
            <a:endParaRPr/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9363" y="858800"/>
            <a:ext cx="5831777" cy="3804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5" y="3286477"/>
            <a:ext cx="3718874" cy="614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Metrics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11700" y="2983875"/>
            <a:ext cx="8520600" cy="15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Accuracy of prediction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Representativeness </a:t>
            </a:r>
            <a:r>
              <a:rPr lang="en"/>
              <a:t>of feature map</a:t>
            </a:r>
            <a:endParaRPr/>
          </a:p>
        </p:txBody>
      </p:sp>
      <p:sp>
        <p:nvSpPr>
          <p:cNvPr id="164" name="Google Shape;16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66337"/>
            <a:ext cx="8832302" cy="1220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Metrics</a:t>
            </a:r>
            <a:endParaRPr/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3" name="Google Shape;1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525" y="1152300"/>
            <a:ext cx="8320952" cy="353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79" name="Google Shape;179;p2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81" name="Google Shape;181;p26"/>
          <p:cNvGraphicFramePr/>
          <p:nvPr/>
        </p:nvGraphicFramePr>
        <p:xfrm>
          <a:off x="568375" y="1548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{693FC5FE-4AD0-41E6-BF43-D0B00ACC4D0F}</a:tableStyleId>
              </a:tblPr>
              <a:tblGrid>
                <a:gridCol w="766500"/>
                <a:gridCol w="766500"/>
                <a:gridCol w="766500"/>
                <a:gridCol w="766500"/>
                <a:gridCol w="766500"/>
              </a:tblGrid>
              <a:tr h="3810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Model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Train set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 accuracy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  <a:tc hMerge="1"/>
              </a:tr>
              <a:tr h="3810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B3FD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AgeDB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CASIA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ElasticFace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B3FD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91% 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57%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MTLFace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B3FD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96.3%</a:t>
                      </a:r>
                      <a:endParaRPr b="1"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77.4% 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82.2%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ElasticFace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MS1MV2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87.1% 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98.3%</a:t>
                      </a:r>
                      <a:endParaRPr b="1"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96.1%</a:t>
                      </a:r>
                      <a:endParaRPr b="1"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26"/>
          <p:cNvSpPr txBox="1"/>
          <p:nvPr/>
        </p:nvSpPr>
        <p:spPr>
          <a:xfrm>
            <a:off x="568375" y="1266325"/>
            <a:ext cx="38325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Verification Accuracies of Individual Models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83" name="Google Shape;183;p26"/>
          <p:cNvGraphicFramePr/>
          <p:nvPr/>
        </p:nvGraphicFramePr>
        <p:xfrm>
          <a:off x="4716150" y="1548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{693FC5FE-4AD0-41E6-BF43-D0B00ACC4D0F}</a:tableStyleId>
              </a:tblPr>
              <a:tblGrid>
                <a:gridCol w="997725"/>
                <a:gridCol w="997725"/>
                <a:gridCol w="612325"/>
                <a:gridCol w="612325"/>
                <a:gridCol w="612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Model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 accuracy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Student-B3FD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Teacher-MS1M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B3FD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AgeDB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CASIA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ElasticFace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ElasticFace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95.7%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76.5%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82.1%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MTLFace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ElasticFace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96.0% </a:t>
                      </a:r>
                      <a:endParaRPr b="1"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76.5% </a:t>
                      </a:r>
                      <a:endParaRPr b="1"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82.6%</a:t>
                      </a:r>
                      <a:endParaRPr b="1"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26"/>
          <p:cNvSpPr txBox="1"/>
          <p:nvPr/>
        </p:nvSpPr>
        <p:spPr>
          <a:xfrm>
            <a:off x="4716150" y="1266325"/>
            <a:ext cx="38325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Verification Accuracies of KD Models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586550" y="3541800"/>
            <a:ext cx="3832500" cy="11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First two rows trained by us from scratch on B3FD, evaluated on unseen datasets AgeDB and CASIA by us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Last row trained by authors on MS1M, evaluated on new dataset B3FD by us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4716100" y="3541800"/>
            <a:ext cx="3832500" cy="11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Both student models were pretrained on B3FD, then trained alongside a teacher pretrained on MS1M, lastly evaluated on unseen datasets AgeDB and CASIA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92" name="Google Shape;192;p2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4" name="Google Shape;19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53483"/>
            <a:ext cx="8520602" cy="3328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200" name="Google Shape;200;p2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(1) pretrained weights or architectures that differed from teacher (2) models that are pretrained on larger datasets helped improve verification accuracy and generalization capacity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Reason: more diverse feature maps</a:t>
            </a:r>
            <a:endParaRPr/>
          </a:p>
        </p:txBody>
      </p:sp>
      <p:sp>
        <p:nvSpPr>
          <p:cNvPr id="201" name="Google Shape;20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02" name="Google Shape;202;p28"/>
          <p:cNvGraphicFramePr/>
          <p:nvPr/>
        </p:nvGraphicFramePr>
        <p:xfrm>
          <a:off x="464138" y="306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{693FC5FE-4AD0-41E6-BF43-D0B00ACC4D0F}</a:tableStyleId>
              </a:tblPr>
              <a:tblGrid>
                <a:gridCol w="1147225"/>
                <a:gridCol w="1147225"/>
                <a:gridCol w="497600"/>
                <a:gridCol w="610400"/>
                <a:gridCol w="6104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Model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 accuracy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Student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Teacher-MS1M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B3FD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AgeDB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CASIA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MTLFace-</a:t>
                      </a:r>
                      <a:r>
                        <a:rPr b="1" lang="en" sz="1000"/>
                        <a:t>scratch</a:t>
                      </a:r>
                      <a:endParaRPr b="1"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ElasticFace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83.4% 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59.6%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67.3%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MTLFace-</a:t>
                      </a:r>
                      <a:r>
                        <a:rPr b="1" lang="en" sz="1000"/>
                        <a:t>B3FD</a:t>
                      </a:r>
                      <a:endParaRPr b="1"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ElasticFace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96.0% 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76.5% 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82.6%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3" name="Google Shape;203;p28"/>
          <p:cNvSpPr txBox="1"/>
          <p:nvPr/>
        </p:nvSpPr>
        <p:spPr>
          <a:xfrm>
            <a:off x="464163" y="2783425"/>
            <a:ext cx="40128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 (1) A</a:t>
            </a: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ccuracy with v.s. without using pretrained weights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04" name="Google Shape;204;p28"/>
          <p:cNvGraphicFramePr/>
          <p:nvPr/>
        </p:nvGraphicFramePr>
        <p:xfrm>
          <a:off x="4667088" y="306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{693FC5FE-4AD0-41E6-BF43-D0B00ACC4D0F}</a:tableStyleId>
              </a:tblPr>
              <a:tblGrid>
                <a:gridCol w="1181050"/>
                <a:gridCol w="1181050"/>
                <a:gridCol w="550225"/>
                <a:gridCol w="550225"/>
                <a:gridCol w="5502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Model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 accuracy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Student-B3FD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Teacher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B3FD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AgeDB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CASIA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ElasticFace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ElasticFace-</a:t>
                      </a:r>
                      <a:r>
                        <a:rPr b="1" lang="en" sz="1000"/>
                        <a:t>B3FD</a:t>
                      </a:r>
                      <a:endParaRPr b="1"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90.8% 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64.7% 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71.8%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ElasticFace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ElasticFace-</a:t>
                      </a:r>
                      <a:r>
                        <a:rPr b="1" lang="en" sz="1000"/>
                        <a:t>MS1M</a:t>
                      </a:r>
                      <a:endParaRPr b="1"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95.7%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76.5%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82.1%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28"/>
          <p:cNvSpPr txBox="1"/>
          <p:nvPr/>
        </p:nvSpPr>
        <p:spPr>
          <a:xfrm>
            <a:off x="4667063" y="2783425"/>
            <a:ext cx="40128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 (2) Accuracy using B3FD- v.s. MS1M-trained teacher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Did not optimize training script for ElasticFace on B3FD → could have led to better baseline → altered subsequent comparisons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Did not fine tune loss terms for using MTLFace as a student → suboptimal or conflicting effects → could not outperform individual MTLFace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13" name="Google Shape;213;p29"/>
          <p:cNvGraphicFramePr/>
          <p:nvPr/>
        </p:nvGraphicFramePr>
        <p:xfrm>
          <a:off x="582563" y="304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{693FC5FE-4AD0-41E6-BF43-D0B00ACC4D0F}</a:tableStyleId>
              </a:tblPr>
              <a:tblGrid>
                <a:gridCol w="976525"/>
                <a:gridCol w="976525"/>
                <a:gridCol w="647100"/>
                <a:gridCol w="647100"/>
                <a:gridCol w="6471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Model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 accuracy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Student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Teacher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B3FD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AgeDB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CASIA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ElasticFace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n/a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91% 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57%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ElasticFace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ElasticFace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95.7%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76.5%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82.1%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29"/>
          <p:cNvSpPr txBox="1"/>
          <p:nvPr/>
        </p:nvSpPr>
        <p:spPr>
          <a:xfrm>
            <a:off x="582625" y="2765425"/>
            <a:ext cx="38943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 Comparison between individual v.s. KD-ElasticFace model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15" name="Google Shape;215;p29"/>
          <p:cNvGraphicFramePr/>
          <p:nvPr/>
        </p:nvGraphicFramePr>
        <p:xfrm>
          <a:off x="4771463" y="304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{693FC5FE-4AD0-41E6-BF43-D0B00ACC4D0F}</a:tableStyleId>
              </a:tblPr>
              <a:tblGrid>
                <a:gridCol w="981975"/>
                <a:gridCol w="981975"/>
                <a:gridCol w="643450"/>
                <a:gridCol w="643450"/>
                <a:gridCol w="64345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Model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 accuracy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Student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Teacher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B3FD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AgeDB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CASIA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MTLFace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n/a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96.3%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77.4% 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82.2%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MTLFace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ElasticFace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95.7%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76.5%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82.1%</a:t>
                      </a:r>
                      <a:endParaRPr sz="1000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p29"/>
          <p:cNvSpPr txBox="1"/>
          <p:nvPr/>
        </p:nvSpPr>
        <p:spPr>
          <a:xfrm>
            <a:off x="4771475" y="2765425"/>
            <a:ext cx="38943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 Comparison between individual v.s. KD-MTLFace model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t</a:t>
            </a:r>
            <a:r>
              <a:rPr lang="en"/>
              <a:t>ransfer learned features more effectively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Fine tuning hyperparameters and other settings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Innovative loss terms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improve generalization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Impacts of dataset quality and scope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More new, unseen data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Stronger prediction head</a:t>
            </a:r>
            <a:endParaRPr sz="1800"/>
          </a:p>
        </p:txBody>
      </p:sp>
      <p:sp>
        <p:nvSpPr>
          <p:cNvPr id="223" name="Google Shape;22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